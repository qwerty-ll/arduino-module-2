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  <p:sldMasterId id="2147483669" r:id="rId7"/>
  </p:sldMasterIdLst>
  <p:notesMasterIdLst>
    <p:notesMasterId r:id="rId8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</p:sldIdLst>
  <p:sldSz cy="6858000" cx="12192000"/>
  <p:notesSz cx="6858000" cy="9144000"/>
  <p:embeddedFontLst>
    <p:embeddedFont>
      <p:font typeface="Roboto Mono"/>
      <p:regular r:id="rId139"/>
      <p:bold r:id="rId140"/>
      <p:italic r:id="rId141"/>
      <p:boldItalic r:id="rId1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3" roundtripDataSignature="AMtx7mj+3bSquZbkY0eipsH2CCFhvcHB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2907m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B3CA6B-DDC2-415E-81B6-5B32702DF14E}">
  <a:tblStyle styleId="{28B3CA6B-DDC2-415E-81B6-5B32702DF14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9" Type="http://schemas.openxmlformats.org/officeDocument/2006/relationships/font" Target="fonts/RobotoMono-regular.fntdata"/><Relationship Id="rId140" Type="http://schemas.openxmlformats.org/officeDocument/2006/relationships/font" Target="fonts/RobotoMono-bold.fntdata"/><Relationship Id="rId141" Type="http://schemas.openxmlformats.org/officeDocument/2006/relationships/font" Target="fonts/RobotoMono-italic.fntdata"/><Relationship Id="rId142" Type="http://schemas.openxmlformats.org/officeDocument/2006/relationships/font" Target="fonts/RobotoMono-boldItalic.fntdata"/><Relationship Id="rId14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«Друзья, первый модуль позади: вы собирали схемы руками, жгли (почти) светодиоды, ловили хлопки и читали RFID-карты. Во втором модуле мы переезжаем в виртуальную лабораторию — Cirkit Designer. Здесь можно собирать схемы с деталями, которых у нас нет в наборе, и ничего не боясь сжечь».</a:t>
            </a:r>
          </a:p>
          <a:p>
            <a:r>
              <a:t>ДЕЛАЮ: открываю cirkitdesigner.com на проекторе, чтобы ребята видели, что это обычный сайт.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«Быстро вспомним, что мы уже умеем. Я называю занятие — вы вспоминаете, что собирали».</a:t>
            </a:r>
          </a:p>
          <a:p>
            <a:r>
              <a:t>СПРАШИВАЮ: по каждой карточке одного ученика: «Что делает digitalWrite? Зачем резистор? Что такое переменная состояния?»</a:t>
            </a:r>
          </a:p>
          <a:p>
            <a:r>
              <a:t>ЗАЧЕМ: это разминка и проверка остаточных знаний — по ответам видно, что нужно повторить на занятии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«Каждое занятие — одна новая большая идея и одна новая деталь. В конце каждого урока — миссия. А на 16-м занятии вы соберёте проект из всего, что изучите: умную теплицу, умный гараж или сейф с клавиатурой».</a:t>
            </a:r>
          </a:p>
          <a:p>
            <a:r>
              <a:t>ДЕЛАЮ: показываю на последнюю строку — это цель, к которой идём весь модуль.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«Посмотрите — каждый проект собран из деталей, которые мы будем проходить по одной. Запоминайте, что вам интереснее: на финале выбор будет за вами».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«Сегодня мы переезжаем: из реальной лаборатории — в виртуальную. Научимся собирать схемы в браузере и закроем пару пробелов из первого модуля: как правильно читать кнопку и как сравнивать числа».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«Слева — знания, справа — то, что вы сделаете руками. К концу урока у каждого будет работающий светофор, который пропускает пешехода по кнопке».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«Симулятор — это как авиатренажёр для пилота. Пилоты сначала учатся на тренажёре, где разбить самолёт не страшно, а потом садятся в настоящий. Код, который вы напишете здесь, без изменений заработает на настоящей плате».</a:t>
            </a:r>
          </a:p>
          <a:p>
            <a:r>
              <a:t>СПРАШИВАЮ: «Какой минус у симулятора?» (Ответ: не потрогать, не взять домой, бывает, что деталь в симуляторе ведёт себя проще, чем в жизни.)</a:t>
            </a:r>
          </a:p>
          <a:p>
            <a:r>
              <a:t>ВАЖНО: подчеркнуть — правило «сначала проверь схему» остаётся. Привычки, которые мы тренируем, нужны для реальной электроники.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ДЕЛАЮ: показываю вживую на проекторе. Открываю app.cirkitdesigner.com → New Project.</a:t>
            </a:r>
          </a:p>
          <a:p>
            <a:r>
              <a:t>ГОВОРЮ: «Сверху три вкладки — это три шага работы инженера: собрать схему, написать код, запустить. Слева — склад деталей. Очень важно: включите вкладку Simulation Parts, тогда в списке будут только детали, которые умеют работать в симуляции. Детали из Diagramming Parts можно нарисовать, но они не оживут».</a:t>
            </a:r>
          </a:p>
          <a:p>
            <a:r>
              <a:t>ДЕЛАЮ: ищу «Arduino UNO», перетаскиваю на поле, затем «LED».</a:t>
            </a:r>
          </a:p>
          <a:p>
            <a:r>
              <a:t>ПРО AI: «Справа сверху — Cirkit AI. Он умеет писать код за вас. Правило: пользуемся им только после двух своих попыток и только чтобы найти ошибку, а не чтобы написать всё за вас».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«Вкладка Code — это знакомая вам Arduino IDE, только в браузере. Тот же скетч, те же setup и loop. Кнопка Verify — это наша галочка "Проверка". Если в коде ошибка — она появится внизу, в Verification Output».</a:t>
            </a:r>
          </a:p>
          <a:p>
            <a:r>
              <a:t>ДЕЛАЮ: показываю, что если стереть точку с запятой и нажать Verify — внизу появляется красная ошибка. Возвращаю «;» на место.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«Simulate — это момент истины. Нажимаем Play — плата "включается", и наш код начинает работать. Кнопки на схеме можно нажимать мышкой. Внизу — Simulation Console, это монитор порта: всё, что плата печатает через Serial.println, появится здесь».</a:t>
            </a:r>
          </a:p>
          <a:p>
            <a:r>
              <a:t>ПРОВЕРИТЬ ЗАРАНЕЕ: симуляция у вас запускается под вашим аккаунтом (при подготовке курса в демо-проекте без входа в аккаунт она не стартовала).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«Это наш алгоритм на каждый урок. Плата — детали — провода — код — запуск. Обратите внимание: сначала схема, потом код. Как и в реальной жизни».</a:t>
            </a:r>
          </a:p>
          <a:p>
            <a:r>
              <a:t>ДЕЛАЮ: показываю, как тянуть провод: клик по выводу → клик по пину. Показываю, как удалить неправильный провод (выделить → Delete).</a:t>
            </a:r>
          </a:p>
          <a:p>
            <a:r>
              <a:t>СОВЕТ: если на схеме много деталей — поставьте макетку (Half Breadboard) и сделайте общую шину GND и 5V, как на занятии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«Правила из первого модуля продолжают работать. Добавляем несколько новых — для виртуальной лаборатории».</a:t>
            </a:r>
          </a:p>
          <a:p>
            <a:r>
              <a:t>ВАЖНО про AI: объяснить, зачем правило. «Если AI напишет код за вас, вы научитесь нажимать кнопку, а не программировать. На хакатоне AI будет недоступен — проверим, кто чему научился».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ГОВОРЮ: «Первое задание — перенести наш самый первый проект в симулятор. Код вы помните. Схема — светодиод через резистор на пин 10».</a:t>
            </a:r>
          </a:p>
          <a:p>
            <a:r>
              <a:t>ДЕЛАЮ: хожу по классу. Типичные проблемы: забыли резистор (в симуляторе может работать, но мы приучаем к правильной схеме), выбрали деталь из Diagramming Parts, перепутали ножки светодиода.</a:t>
            </a:r>
          </a:p>
          <a:p>
            <a:r>
              <a:t>КОГДА ВСЁ ЗАМИГАЛО: «Поздравляю, вы инженеры виртуальной лаборатории!»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«В занятии 3 у некоторых баззер пищал постоянно и замолкал при нажатии. Сегодня разберёмся почему. Если пин ни к чему не подключён, он "висит в воздухе" и ловит помехи — то HIGH, то LOW. Чтобы этого не было, пин подтягивают к 5V через резистор. У Arduino такой резистор уже есть внутри — его включает слово INPUT_PULLUP».</a:t>
            </a:r>
          </a:p>
          <a:p>
            <a:r>
              <a:t>ДЕЛАЮ: рисую на доске: 5V → резистор → пин → кнопка → GND.</a:t>
            </a:r>
          </a:p>
          <a:p>
            <a:r>
              <a:t>ГОВОРЮ: «Кнопка не нажата — ток идёт с 5V на пин: HIGH. Нажали — пин соединился с землёй: LOW. Поэтому в коде проверяем == LOW».</a:t>
            </a:r>
          </a:p>
          <a:p>
            <a:r>
              <a:t>СПРАШИВАЮ: «Что прочитает digitalRead, если кнопку отпустили?» (HIGH)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«Мы уже писали if, но давайте разберёмся, какие вопросы плата умеет задавать. Каждый такой вопрос даёт ответ "да" или "нет"».</a:t>
            </a:r>
          </a:p>
          <a:p>
            <a:r>
              <a:t>СПРАШИВАЮ по примерам: «temp &gt; 28 — когда будет "да"?»</a:t>
            </a:r>
          </a:p>
          <a:p>
            <a:r>
              <a:t>САМОЕ ВАЖНОЕ — красная плашка: «Один знак равно — это команда "положи". Два — вопрос "равно ли?". Если в if написать один знак — плата не спросит, а положит, и условие сломается. Это ошибка номер один у всех программистов, даже взрослых».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«Плата не умеет говорить, но умеет писать нам письма. Serial.println — это письмо в монитор порта. Когда что-то не работает, первый вопрос инженера: "а что видит плата?" — и мы печатаем значения».</a:t>
            </a:r>
          </a:p>
          <a:p>
            <a:r>
              <a:t>ДЕЛАЮ: собираю кнопку на D2 и GND, запускаю этот код. Нажимаю кнопку мышкой — в консоли 1 меняется на 0.</a:t>
            </a:r>
          </a:p>
          <a:p>
            <a:r>
              <a:t>ЗАДАНИЕ (3 мин): ребята повторяют и проверяют, что при нажатии видят 0.</a:t>
            </a:r>
          </a:p>
          <a:p>
            <a:r>
              <a:t>СПРАШИВАЮ: «Почему при нажатии 0, а не 1?» (INPUT_PULLUP — логика перевёрнута.)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25 мин (вместе со сборкой и кодом)</a:t>
            </a:r>
          </a:p>
          <a:p>
            <a:r>
              <a:t>ГОВОРЮ: «Настоящие светофоры у пешеходного перехода работают именно так. А писк — это не для красоты: так переходят дорогу незрячие люди».</a:t>
            </a:r>
          </a:p>
          <a:p>
            <a:r>
              <a:t>ДЕЛАЮ: показываю карту подключения (следующий слайд), даю 8–10 минут на сборку, потом код.</a:t>
            </a:r>
          </a:p>
          <a:p>
            <a:r>
              <a:t>ПОДСКАЗКА для отстающих: начните с того, что зелёный просто горит, потом добавьте if с кнопкой.</a:t>
            </a:r>
          </a:p>
          <a:p>
            <a:r>
              <a:t>УСЛОЖНЕНИЕ — для тех, кто закончил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8–10 мин на сборку</a:t>
            </a:r>
          </a:p>
          <a:p>
            <a:r>
              <a:t>ГОВОРЮ: «Вот карта. Слева — деталь и её вывод, справа — куда он идёт на плате. Обратите внимание: у кнопки нет резистора — мы используем INPUT_PULLUP».</a:t>
            </a:r>
          </a:p>
          <a:p>
            <a:r>
              <a:t>ДЕЛАЮ: перед запуском — «Золотое правило инженера»: проверяем схему по карте. Даже в симуляторе.</a:t>
            </a:r>
          </a:p>
          <a:p>
            <a:r>
              <a:t>ЧАСТЫЕ ОШИБКИ: светодиод вставлен наоборот; кнопка подключена к 5V вместо GND; баззер взят из Diagramming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«Код делим на две части. Сначала — настройка. Здесь ничего нового, кроме INPUT_PULLUP и Serial».</a:t>
            </a:r>
          </a:p>
          <a:p>
            <a:r>
              <a:t>ДЕЛАЮ: ребята переписывают, жмут Verify. Проверяем, что ошибок нет, ещё до написания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ГОВОРЮ: «Главный цикл. Зелёный горит всегда. Если кнопку нажали — запускаем последовательность. Посмотрите на цикл for — мы его учили на занятии 4. Он заменяет 20 строчек кода».</a:t>
            </a:r>
          </a:p>
          <a:p>
            <a:r>
              <a:t>СПРАШИВАЮ: «Как сделать, чтобы красный горел 10 секунд?» (i &lt; 20)</a:t>
            </a:r>
          </a:p>
          <a:p>
            <a:r>
              <a:t>ДЕЛАЮ: Verify → Simulate → Play → нажимаю кнопку мышкой. Показываю сообщение в Simulation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«Ошибка — это нормально. Инженер отличается не тем, что не ошибается, а тем, что умеет ошибку найти».</a:t>
            </a:r>
          </a:p>
          <a:p>
            <a:r>
              <a:t>ДЕЛАЮ: когда у ученика не работает — сначала спрашиваю «что видит плата?» и прошу вывести значение кнопки в Serial.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«Сегодня мы освоили новую лабораторию. Дальше будет интереснее: на следующем занятии научимся создавать СВОИ команды — и сделаем электронный игральный кубик».</a:t>
            </a:r>
          </a:p>
          <a:p>
            <a:r>
              <a:t>РЕФЛЕКСИЯ: по кругу, каждый отвечает на один вопрос.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«До сих пор мы пользовались чужими командами: digitalWrite, delay, tone. Сегодня вы станете авторами собственных команд».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«Цель на сегодня — электронный кубик для настольных игр. А по дороге научимся писать функции — это то, без чего не обходится ни одна большая программа».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«Вспомните ваш SOS из второго занятия. Сколько там было строчек? А если нужно передать не SOS, а целое слово?»</a:t>
            </a:r>
          </a:p>
          <a:p>
            <a:r>
              <a:t>СПРАШИВАЮ: «Что тут повторяется?» (точка — включил, подождал, выключил, подождал)</a:t>
            </a:r>
          </a:p>
          <a:p>
            <a:r>
              <a:t>ГОВОРЮ: «Программисты ленивые — в хорошем смысле. Если что-то повторяется — дай этому имя».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«Функция — как рецепт. Мама говорит "свари макароны" — и вам не нужно каждый раз объяснять: налей воду, вскипяти, посоли… Рецепт записан один раз и имеет имя».</a:t>
            </a:r>
          </a:p>
          <a:p>
            <a:r>
              <a:t>ДЕЛАЮ: на доске пишу анатомию функции, подписываю три части.</a:t>
            </a:r>
          </a:p>
          <a:p>
            <a:r>
              <a:t>ГОВОРЮ: «Кстати, setup и loop — тоже функции! Просто их вызывает сама плата».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 (включая практику)</a:t>
            </a:r>
          </a:p>
          <a:p>
            <a:r>
              <a:t>ГОВОРЮ: «Сравните с прошлым слайдом. loop теперь читается как обычный текст».</a:t>
            </a:r>
          </a:p>
          <a:p>
            <a:r>
              <a:t>ЗАДАНИЕ: ребята собирают светодиод на D10 (схема с прошлого урока), переписывают SOS через функции. Не забыть int ledPin = 10; и pinMode в setup — полный код есть в сценарии.</a:t>
            </a:r>
          </a:p>
          <a:p>
            <a:r>
              <a:t>УСЛОЖНЕНИЕ: добавить функцию letterA() (точка-тире) и передать «SOS 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«А если нужно мигнуть то 3 раза, то 5? Писать две функции? Нет — передадим число в скобках. Это называется параметр».</a:t>
            </a:r>
          </a:p>
          <a:p>
            <a:r>
              <a:t>СПРАШИВАЮ: «Что сделает blinkTimes(0)?» (ничего — цикл не выполнится ни разу)</a:t>
            </a:r>
          </a:p>
          <a:p>
            <a:r>
              <a:t>ГОВОРЮ: «tone(8, 1000) — это тоже функция с двумя параметрами: пин и частота. Теперь вы понимаете, как она устроена».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«Бывают функции-исполнители — void, они просто делают. А бывают функции-ответчики: спросил — получил ответ. Например, analogRead: спросили "что на A0?" — получили число от 0 до 1023».</a:t>
            </a:r>
          </a:p>
          <a:p>
            <a:r>
              <a:t>ЛОВУШКА: random(1, 7) — почему 7? «Верхняя граница не входит. Это как в цикле for: i &lt; 6 — шестёрки не будет».</a:t>
            </a:r>
          </a:p>
          <a:p>
            <a:r>
              <a:t>ЗАДАНИЕ (3 мин): запустить код и 10 раз посмотреть на числа в Simulation Console. Бывает ли 7? А 0?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«Посмотрите на табло в лифте или на микроволновке — цифры там сделаны из семи палочек. Каждая палочка — отдельный светодиод».</a:t>
            </a:r>
          </a:p>
          <a:p>
            <a:r>
              <a:t>СПРАШИВАЮ: «Какие сегменты нужны для цифры 1?» (b и c) «А для 8?» (все)</a:t>
            </a:r>
          </a:p>
          <a:p>
            <a:r>
              <a:t>ВАЖНО: в Cirkit деталь называется «Seven Segment Display». Если у неё общий анод — логика перевернётся: чтобы сегмент зажёгся, нужно подать LOW. В нашем коде это решается одной строкой (константы ON и OFF).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«На занятии 4 массив был длинной коробкой с отсеками. Двумерный массив — это шкаф с полками: номер полки — цифра, номер ячейки — сегмент».</a:t>
            </a:r>
          </a:p>
          <a:p>
            <a:r>
              <a:t>ДЕЛАЮ: на доске рисую таблицу для 0–3 и прошу ребят заполнить строку для цифры 4 (0110011 — b, c, f, g).</a:t>
            </a:r>
          </a:p>
          <a:p>
            <a:r>
              <a:t>АНАЛОГИЯ: «Морской бой: Б-3 — строка Б, столбец 3. digits[2][0] — строка 2, столбец 0».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ГОВОРЮ: «Порядок очень важен: a на 4, b на 5 и так далее до g на 10. Тогда массив пинов в коде совпадёт со схемой».</a:t>
            </a:r>
          </a:p>
          <a:p>
            <a:r>
              <a:t>СОВЕТ: в реальной жизни на каждый сегмент нужен резистор 220 Ом. В симуляторе для экономии времени можно без них, но обязательно проговорить это вслух.</a:t>
            </a:r>
          </a:p>
          <a:p>
            <a:r>
              <a:t>ПРОВЕРКА: если индикатор с общим анодом — COM на 5V и в коде поменять ON и OFF местами.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«Эта часть — "словарь" нашего кубика. showDigit умеет нарисовать любую цифру, rollDice умеет бросить кубик. Обратите внимание: if без фигурных скобок — так можно, если внутри одна команда».</a:t>
            </a:r>
          </a:p>
          <a:p>
            <a:r>
              <a:t>ДЕЛАЮ: ребята переписывают таблицу — это долго, поэтому можно раздать её распечаткой или скинуть в ТГ-канал.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7 мин</a:t>
            </a:r>
          </a:p>
          <a:p>
            <a:r>
              <a:t>ГОВОРЮ: «А теперь loop — посмотрите, какой он короткий. Вся сложность спрятана в функциях».</a:t>
            </a:r>
          </a:p>
          <a:p>
            <a:r>
              <a:t>ДЕЛАЮ: Verify → Play → жмём кнопку. Кубик «катится» и останавливается.</a:t>
            </a:r>
          </a:p>
          <a:p>
            <a:r>
              <a:t>ПРО randomSeed: «Компьютер не умеет придумывать случайные числа — он берёт их из длинного списка. randomSeed выбирает, с какого места списка начать».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 мин</a:t>
            </a:r>
          </a:p>
          <a:p>
            <a:r>
              <a:t>ГОВОРЮ: «Сначала проверяем, что индикатор рисует все цифры, и только потом делаем кубик. Это стратегия инженера: проверять по кусочкам».</a:t>
            </a:r>
          </a:p>
          <a:p>
            <a:r>
              <a:t>ПОДСКАЗКА для шага 2: for (int n = 0; n &lt; 10; n++) { showDigit(n); delay(500); } — прямо в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«Самая частая ошибка с функциями — опечатка в имени. showdigit и showDigit — для платы это разные слова».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«Функции будут с нами до конца курса: каждую новую деталь мы будем "заворачивать" в функцию. А на следующем занятии плата наконец научится писать слова — подключим настоящий экран».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«До сих пор плата общалась с нами светодиодами, писком и монитором порта на компьютере. Сегодня у неё появится собственный экран».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«Экран — это первая деталь, которую мы будем подключать через библиотеку в Cirkit. После сегодняшнего урока любой ваш проект сможет показывать текст».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«Такой экран вы видели на кассе в магазине или на 3D-принтере. Он умеет показывать 32 символа — по 16 в двух строках».</a:t>
            </a:r>
          </a:p>
          <a:p>
            <a:r>
              <a:t>ДЕЛАЮ: в Cirkit ищу «16x2 I2C LCD» в Simulation Parts и показываю, что у него всего 4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«На занятии 7 сканер RFID общался по SPI — помните, было много проводов. У экрана другой язык — I2C. Он медленнее, но проводов всего два. Как это возможно? У каждого устройства есть адрес — как номер квартиры. Плата говорит: "квартира 0x27, покажи текст" — и отвечает только экран».</a:t>
            </a:r>
          </a:p>
          <a:p>
            <a:r>
              <a:t>СПРАШИВАЮ: «Как думаете, что такое SCL, если в SPI мы называли SCK метрономом?» (тоже метроном — Clock)</a:t>
            </a:r>
          </a:p>
          <a:p>
            <a:r>
              <a:t>ВАЖНО: на Arduino Uno I2C работает только на пинах A4 (SDA) и A5 (SCL).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«Библиотека — это готовый словарь команд от других программистов. На занятии 7 мы устанавливали библиотеку для RFID в Arduino IDE. В Cirkit это ещё проще».</a:t>
            </a:r>
          </a:p>
          <a:p>
            <a:r>
              <a:t>ДЕЛАЮ: показываю на проекторе весь путь. Обращаю внимание: есть похожая «LiquidCrystal I2C Multilingual» — нам нужна обычная.</a:t>
            </a:r>
          </a:p>
          <a:p>
            <a:r>
              <a:t>ЕСЛИ #include не появился автоматически — пишем вручную две строки: #include &lt;Wire.h&gt; и #include &lt;LiquidCrystal_I2C.h&gt;.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«Экран — как тетрадь в клетку. setCursor — это "поставь ручку в клетку номер такой-то". Помните секрет айтишников? Счёт с нуля! Первая строка — 0, вторая — 1».</a:t>
            </a:r>
          </a:p>
          <a:p>
            <a:r>
              <a:t>СПРАШИВАЮ: «Как напечатать слово в самом начале второй строки?» (setCursor(0, 1))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«Экран — как доска с мелом. Если написать 99 поверх 100 — последний ноль останется. Поэтому либо стираем всё через clear (но тогда экран мигает), либо дописываем пробелы».</a:t>
            </a:r>
          </a:p>
          <a:p>
            <a:r>
              <a:t>ДЕЛАЮ: показываю на проекторе: печатаю 100, потом 99 — получается 990.</a:t>
            </a:r>
          </a:p>
          <a:p>
            <a:r>
              <a:t>ПРО РУССКИЕ БУКВЫ: в памяти экрана нет кириллицы. Если очень хочется — можно нарисовать свои символы (createChar), но это тема для тьютора после обеда.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«Плата очень быстрая. Пока вы держите палец на кнопке десятую долю секунды, loop успевает прокрутиться сотни раз. Если считать каждый LOW — счётчик улетит в небо».</a:t>
            </a:r>
          </a:p>
          <a:p>
            <a:r>
              <a:t>ДЕЛАЮ: сначала показываю «наивную» версию (if (button == LOW) count++) — счётчик прыгает на сотни. Потом правильную.</a:t>
            </a:r>
          </a:p>
          <a:p>
            <a:r>
              <a:t>СВЯЗЬ: «Это та же идея, что переменная состояния в хлопковом ночнике — плата должна ПОМНИТЬ прошлое».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«Экран — 4 провода, потенциометр — как на занятии 5, кнопка — как на прошлом уроке».</a:t>
            </a:r>
          </a:p>
          <a:p>
            <a:r>
              <a:t>ЧАСТАЯ ОШИБКА: SDA и SCL перепутаны или подключены к цифровым пинам. На Uno только A4 и A5!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«Строка LiquidCrystal_I2C lcd(...) — это как создать сканер на занятии 7: мы создаём "виртуальный экран" с именем lcd. Дальше все команды начинаются с lcd-точка».</a:t>
            </a:r>
          </a:p>
          <a:p>
            <a:r>
              <a:t>ДЕЛАЮ: Verify → Play. На экране должно появиться «Hello, robot!». Если экран пустой — см. слайд с ошибками (адрес).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«Первая строка экрана — счётчик, вторая — шкала, как индикатор громкости. Крутите потенциометр — шкала растёт».</a:t>
            </a:r>
          </a:p>
          <a:p>
            <a:r>
              <a:t>СПРАШИВАЮ: «Зачем печатать пробелы, а не просто #?» (чтобы стирать старые решётки, когда шкала уменьшается)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 мин</a:t>
            </a:r>
          </a:p>
          <a:p>
            <a:r>
              <a:t>ГОВОРЮ: «Делаем по шагам и проверяем после каждого. Шаг 2 — самый важный: если экран не заработал, дальше идти бессмысленно».</a:t>
            </a:r>
          </a:p>
          <a:p>
            <a:r>
              <a:t>УСЛОЖНЕНИЕ: «LOW / MID / HIGH» — это повторение if / else и подготовка к лестнице else if на следующем занятии.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«Если экран молчит — проверяем по порядку: провода A4/A5 → библиотека → адрес».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«Теперь у наших устройств есть голос — точнее, экран. На следующем занятии дадим ему что показать: соберём метеостанцию, которая измеряет температуру и влажность».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«Сегодня наш экран получит работу: он будет показывать погоду. Соберём настоящую метеостанцию — с градусником, гигрометром и цветным индикатором "жарко-холодно"».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«Сегодня будет сразу три детали: датчик, экран и RGB-светодиод. Экран и RGB вы уже знаете — новенький только датчик».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«Внутри белой решётчатой коробочки — два датчика и свой маленький "мозг". Он сам всё измеряет и отправляет Arduino готовые числа по одному проводу».</a:t>
            </a:r>
          </a:p>
          <a:p>
            <a:r>
              <a:t>СПРАШИВАЮ: «Где такие датчики могут стоять в жизни?» (теплица, кондиционер, инкубатор, умный дом, склад)</a:t>
            </a:r>
          </a:p>
          <a:p>
            <a:r>
              <a:t>ДЕЛАЮ: в Cirkit ищу DHT22 в Simulation Parts, показываю его выводы.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«Помните коробочку int? Она для целых чисел. Если положить туда 23,7 — плата просто отрежет хвост. Для температуры нужна другая коробка — float, "плавающая точка"».</a:t>
            </a:r>
          </a:p>
          <a:p>
            <a:r>
              <a:t>ЛОВУШКА: в программировании дробь пишется через точку: 23.7, а не 23,7.</a:t>
            </a:r>
          </a:p>
          <a:p>
            <a:r>
              <a:t>СПРАШИВАЮ: «Какой тип выбрать для: номера пина? (int) Температуры? (float) Количества нажатий? (int)»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«Сначала проверяем датчик без экрана — через монитор порта. Это стратегия "по кусочкам"».</a:t>
            </a:r>
          </a:p>
          <a:p>
            <a:r>
              <a:t>ДЕЛАЮ: подключаю библиотеку (Code → Libraries → DHT sensor library → Include). Собираю DHT22: VCC → 5V, DATA → D4, GND → GND. Запускаю.</a:t>
            </a:r>
          </a:p>
          <a:p>
            <a:r>
              <a:t>КАК МЕНЯТЬ ТЕМПЕРАТУРУ В СИМУЛЯТОРЕ: во время симуляции кликните по датчику — в свойствах можно задать температуру и влажность (проверьте заранее, как это выглядит в вашей версии Cirkit).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«Хороший инженер думает не только о том, как всё работает, но и о том, что будет, если сломается. Провод отвалился — датчик молчит. Что покажет экран? Слово nan. Давайте честно напишем "ошибка датчика"».</a:t>
            </a:r>
          </a:p>
          <a:p>
            <a:r>
              <a:t>СРАВНИ: &amp;&amp; — строгий охранник (нужны оба пропуска), || — добрый охранник (хватит одного).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«if / else — это развилка на две дороги. А если дорог три? Ставим лестницу. Плата спускается по ступенькам и останавливается на первой, где ответ "да"».</a:t>
            </a:r>
          </a:p>
          <a:p>
            <a:r>
              <a:t>СПРАШИВАЮ: «t = 20. На какой ступеньке остановимся?» (на второй — зелёный) «t = 15?» (на первой) «t = 30?» (else — красный)</a:t>
            </a:r>
          </a:p>
          <a:p>
            <a:r>
              <a:t>ЛОВУШКА: «Что будет, если первой ступенькой поставить t &lt;= 26?» (холод тоже станет зелёным — до синего плата не дойдёт)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«На занятии 7 мы смешивали цвета, и каждый раз писали три analogWrite. Теперь, когда мы знаем функции, заворачиваем это в одну команду setColor».</a:t>
            </a:r>
          </a:p>
          <a:p>
            <a:r>
              <a:t>ПОЧЕМУ 3, 5, 6, а не 9, 10, 11, как на занятии 7: на следующем уроке подключим сервопривод, а его библиотека "забирает" ШИМ на пинах 9 и 10. Сразу приучаемся к пинам, которые не будут конфликтовать.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ГОВОРЮ: «Три детали — проверяем по одной. Сначала DHT с монитором порта, потом экран, потом RGB».</a:t>
            </a:r>
          </a:p>
          <a:p>
            <a:r>
              <a:t>ВАЖНО: в реальной схеме у DHT22 между VCC и DATA ставят резистор 10 кОм (у модулей на плате он уже есть). В симуляторе не нужен.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15 мин</a:t>
            </a:r>
          </a:p>
          <a:p>
            <a:r>
              <a:t>ГОВОРЮ: «Собираем всё вместе. Наверху скетча — подключения библиотек и setup, они такие же, как в прошлых примерах. Полный код — в сценарии и в ТГ-канале».</a:t>
            </a:r>
          </a:p>
          <a:p>
            <a:r>
              <a:t>ДЕЛАЮ: запускаю, меняю температуру у датчика в симуляции: 10 → 22 → 35. Индикатор меняет цвет.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 мин</a:t>
            </a:r>
          </a:p>
          <a:p>
            <a:r>
              <a:t>ПОДСКАЗКА для усложнения «максимум»: float maxT = -100; и в loop: if (t &gt; maxT) maxT = t;</a:t>
            </a:r>
          </a:p>
          <a:p>
            <a:r>
              <a:t>ГОВОРЮ: «Испытание — обязательная часть. Устройство, которое не проверили во всех режимах, считается непроверенным».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«Если что-то не работает — возвращаемся к монитору порта. Что видит плата?»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«Наши устройства уже чувствуют и показывают. Но пока ничего не двигают. На следующем занятии — первый настоящий механизм: сервопривод».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«Свет, звук, экран — всё это было. Сегодня ваш код впервые сдвинет что-то с места».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«Шлагбаум — это деталь будущего умного гаража. Запоминайте, как он работает».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«Вентилятор крутится, пока его не выключишь. А серва — как стрелка часов, которую ставят на нужное деление. Говорим "45 градусов" — она поворачивается и замирает».</a:t>
            </a:r>
          </a:p>
          <a:p>
            <a:r>
              <a:t>СПРАШИВАЮ: «Где в жизни нужен точный угол?» (шлагбаум, руль, дверца, робот-рука)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«Цвета проводов у сервы стандартные. Коричневый — земля, красный — плюс, оранжевый — команда».</a:t>
            </a:r>
          </a:p>
          <a:p>
            <a:r>
              <a:t>ВАЖНО (для реальной жизни): серва во время движения потребляет много тока. Если питать большую серву от Arduino, плата может перезагружаться. В симуляторе этой проблемы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ДЕЛАЮ: в Cirkit — Servo из Simulation Parts. Провода: GND → GND, V+ → 5V, сигнал → D9. Запускаю: серва «тикает» 0 → 90 → 180.</a:t>
            </a:r>
          </a:p>
          <a:p>
            <a:r>
              <a:t>ГОВОРЮ: «Видите, как просто? Создали серву, сказали, какой пин слушать, и даём команды углом».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«Узнаёте? Это умная лампочка из занятия 5, только вместо яркости — угол. Один и тот же приём работает для разных устройств».</a:t>
            </a:r>
          </a:p>
          <a:p>
            <a:r>
              <a:t>ДЕЛАЮ: потенциометр — края на 5V и GND, середина — на A0. Кручу ручку в симуляции — серва повторяет.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«Если сказать серве "90!" — она дёрнется так, что шлагбаум ударит машину. Поэтому двигаем её этаж за этажом, как лифт: 1 градус, пауза, ещё градус…»</a:t>
            </a:r>
          </a:p>
          <a:p>
            <a:r>
              <a:t>СПРАШИВАЮ: «Как сделать подъём в 2 раза медленнее?» (delay(30)) «Как опустить шлагбаум обратно?» (цикл от 90 до 0 с a--)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«Используем знания с занятия 10: заворачиваем движение в функцию. Теперь moveGate(0, 90) — поднять, moveGate(90, 0) — опустить».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«Помните хлопковый ночник? Хлопок — включить, хлопок — выключить. Здесь то же самое: кнопка — открыть, кнопка — закрыть. Плата должна помнить состояние».</a:t>
            </a:r>
          </a:p>
          <a:p>
            <a:r>
              <a:t>ДЕЛАЮ: функция moveGate стоит над setup (с прошлого слайда). Verify → Play → жму кнопку.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«Это стандартная раскладка, которую мы сохраним до конца модуля: кнопка — D2, баззер — D8, серва — D9. На хакатоне вы скажете себе спасибо».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 мин</a:t>
            </a:r>
          </a:p>
          <a:p>
            <a:r>
              <a:t>УСЛОЖНЕНИЕ: полный код стрелочного термометра — в сценарии. Обратите внимание на constrain — он не даёт углу выйти за 0…180 при температуре за пределами шкалы.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«Конфликт пинов — классика. Именно поэтому мы с прошлого урока держим RGB на 3, 5, 6».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«Шлагбаум у нас есть. Но кто будет нажимать кнопку? В настоящем гараже шлагбаум сам видит машину. На следующем уроке научим плату "видеть" расстояние — как летучая мышь».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«Летучие мыши летают в полной темноте и не врезаются в стены. Как? Сегодня научим этому нашу плату».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«Парктроник есть почти в каждой современной машине. Сегодня вы соберёте свой».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«Крикните в горах — через секунду услышите эхо. Чем дальше гора, тем дольше ждать. Датчик делает то же самое, только кричит ультразвуком и считает время в микросекундах».</a:t>
            </a:r>
          </a:p>
          <a:p>
            <a:r>
              <a:t>СВЯЗЬ: на занятии 6 мы говорили, что звук — это волна. Сегодня мы измерим её скорость.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«Многие думают, что это глаза. Нет! Один кружок — динамик, второй — микрофон. Как наш баззер и датчик звука, только для ультразвука».</a:t>
            </a:r>
          </a:p>
          <a:p>
            <a:r>
              <a:t>ДЕЛАЮ: в Cirkit ищу HC-SR04 в Simulation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«Звук пролетает 343 метра за секунду. Датчик меряет время в микросекундах — миллионных долях секунды. За одну микросекунду звук пролетает 0,0343 сантиметра. Почему делим на 2? Звук слетал к стене И вернулся — это двойной путь».</a:t>
            </a:r>
          </a:p>
          <a:p>
            <a:r>
              <a:t>ЗАДАЧА НА ДОСКЕ: эхо пришло через 2000 мкс. Сколько до стены? (2000 × 0,0343 / 2 ≈ 34 см)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«Это самая сложная функция курса — разберём по строчкам. Сначала тишина 2 микросекунды. Потом "крик" 10 микросекунд. Потом pulseIn слушает эхо и возвращает время. А дальше — наша формула».</a:t>
            </a:r>
          </a:p>
          <a:p>
            <a:r>
              <a:t>СВЯЗЬ: функции-ответчики с return были на занятии 10 (rollDice). Тут то же самое, только ответ —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«Опять лестница else if из 12-го занятия: три зоны — три ступеньки».</a:t>
            </a:r>
          </a:p>
          <a:p>
            <a:r>
              <a:t>СПРАШИВАЮ: «map(cm, 10, 100, 100, 600): при 10 см какая пауза?» (100 мс — часто) «А при 100 см?» (600 мс — редко)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ГОВОРЮ: «Почему D7 и D12? Чтобы не мешать серве (D9) и RGB (3, 5, 6) — на хакатоне всё это окажется в одной схеме».</a:t>
            </a:r>
          </a:p>
          <a:p>
            <a:r>
              <a:t>ПРОВЕРИТЬ ЗАРАНЕЕ: как в вашей версии Cirkit задаётся расстояние в симуляции (обычно — свойства датчика во время симуляции).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ДЕЛАЮ: запускаю, двигаю «препятствие» в симуляции: 150 → 60 → 20 → 5 см. Слышно ускорение писка.</a:t>
            </a:r>
          </a:p>
          <a:p>
            <a:r>
              <a:t>ГОВОРЮ: «Заметили? Пока идёт delay, плата ничего не меряет. На следующем занятии мы это починим».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20 мин</a:t>
            </a:r>
          </a:p>
          <a:p>
            <a:r>
              <a:t>ГОВОРЮ: «Проверка в мониторе порта — сначала. Если расстояние 0 или 999 при любом положении — ищем ошибку в проводах TRIG/ECHO».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«Перепутанные TRIG и ECHO — ошибка номер один с этим датчиком. Рот и ухо поменяли местами — плата кричит в ухо».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«Есть вопрос на подумать: попробуйте добавить к парктронику кнопку "тишина". Получится ли нажать её, когда идёт delay? Ответ — на следующем занятии».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«Сегодня — самое "взрослое" занятие модуля. Научим плату делать несколько дел одновременно. Без этого не обходится ни одно серьёзное устройство».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«Начнём с эксперимента, который покажет проблему».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ДЕЛАЮ: даю 5 минут собрать и запустить. Прошу нажимать кнопку быстро.</a:t>
            </a:r>
          </a:p>
          <a:p>
            <a:r>
              <a:t>СПРАШИВАЮ: «Всегда пищит?» — «Нет, иногда!» — «Почему?»</a:t>
            </a:r>
          </a:p>
          <a:p>
            <a:r>
              <a:t>ГОВОРЮ: «delay — это сон. Пока плата спит, она ничего не замечает. Мы попадаем в момент проверки только случайно».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«Ваша мама не стоит 10 минут у плиты, глядя на кашу. Она запоминает время, занимается делами и иногда поглядывает на часы. Это и есть millis».</a:t>
            </a:r>
          </a:p>
          <a:p>
            <a:r>
              <a:t>СПРАШИВАЮ: «Какие ещё "дела с таймером" вы делаете одновременно?» (чайник, стиральная машина, зарядка телефона)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 мин</a:t>
            </a:r>
          </a:p>
          <a:p>
            <a:r>
              <a:t>ГОВОРЮ: «Внутри платы тикает секундомер. Включили плату — он запустился. millis() — это вопрос "сколько натикало?"».</a:t>
            </a:r>
          </a:p>
          <a:p>
            <a:r>
              <a:t>ДЕЛАЮ: Serial.println(millis()); в loop с delay(500) — показываю, как растут числа.</a:t>
            </a:r>
          </a:p>
          <a:p>
            <a:r>
              <a:t>ПОЧЕМУ unsigned long: в int помещается только до 32 767 — это 33 секунды. Потом коробка "переполнится".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«Это формула, которую нужно запомнить. Три строчки. Её используют программисты во всём мире».</a:t>
            </a:r>
          </a:p>
          <a:p>
            <a:r>
              <a:t>ДЕЛАЮ: на доске «прокручиваю» вручную: lastTime = 0. millis = 400 → 400-0 &lt; 1000, не пора. millis = 1003 → пора! lastTime = 1003. millis = 1500 → 497, не пора…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</a:t>
            </a:r>
          </a:p>
          <a:p>
            <a:r>
              <a:t>ГОВОРЮ: «Два дела — два блока. Ни одного длинного delay. Запускаем — и кнопка работает мгновенно».</a:t>
            </a:r>
          </a:p>
          <a:p>
            <a:r>
              <a:t>ДЕЛАЮ: показываю на проекторе, потом ребята переделывают свою «проблемную» программу.</a:t>
            </a:r>
          </a:p>
          <a:p>
            <a:r>
              <a:t>СПРАШИВАЮ: «Как добавить третье дело — второй светодиод, мигающий раз в 300 мс?» (второй таймер: lastBlink2)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«Парктроник 2.0 делает четыре дела. У каждого — своё расписание, как уроки в школе. И ни одно не мешает другим».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6 мин</a:t>
            </a:r>
          </a:p>
          <a:p>
            <a:r>
              <a:t>ГОВОРЮ: «Берём наш парктроник с прошлого урока: функция measureDistance та же. Меняем только loop».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8 мин</a:t>
            </a:r>
          </a:p>
          <a:p>
            <a:r>
              <a:t>ДЕЛАЮ: запускаю, меняю расстояние и одновременно жму кнопку «тишина». Всё работает мгновенно.</a:t>
            </a:r>
          </a:p>
          <a:p>
            <a:r>
              <a:t>ГОВОРЮ: «Посмотрите — в loop нет ни одного delay. Это и есть настоящая многозадачность микроконтроллера».</a:t>
            </a:r>
          </a:p>
          <a:p>
            <a:r>
              <a:t>ПРО ? : — это «тернарный оператор», короткая запись if/else. Можно заменить обычным if/else, как в полном коде сценария.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25 мин</a:t>
            </a:r>
          </a:p>
          <a:p>
            <a:r>
              <a:t>ГОВОРЮ: «Шаги 1–2 — обязательные для всех, 3–4 — для тех, кто готов к вызову».</a:t>
            </a:r>
          </a:p>
          <a:p>
            <a:r>
              <a:t>ДЕЛАЮ: проверяю у каждого, что lastTime объявлен как unsigned long и обновляется внутри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по ходу практики</a:t>
            </a:r>
          </a:p>
          <a:p>
            <a:r>
              <a:t>ГОВОРЮ: «Ошибка с int — коварная: первые 30 секунд всё работает, а потом начинаются чудеса».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ГОВОРЮ: «Следующее занятие — финальное. Хакатон! Подумайте дома, какой проект вы хотите: теплицу, гараж или сейф. Можно уже сейчас договориться о командах».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«Сегодня вы — инженерные команды. За 90 минут нужно спроектировать, собрать, запрограммировать и защитить своё устройство».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«Правила хакатона: Cirkit AI выключен, помогать можно только своей команде, вопросы — преподавателю».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«Посмотрите — это всё, что вы умеете. И у каждой детали уже есть "свой" пин. Это не случайно: мы с самого начала раскладывали пины так, чтобы на хакатоне ничего не конфликтовало».</a:t>
            </a:r>
          </a:p>
          <a:p>
            <a:r>
              <a:t>ВАЖНО: клавиатура занимает D4–D7 и D10–D13, поэтому в «Сейфе 2.0» не используем DHT, RGB и дальномер.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рассказываю логику проекта «Умная теплица» и показываю, что каждый модуль ребята уже собирали на прошлых занятиях.</a:t>
            </a:r>
          </a:p>
          <a:p>
            <a:r>
              <a:t>ПОДСКАЗКА: эталонное решение — в сценарии (раздел «Занятие 16»). Ребятам его не показываем — только отдельные куски по запросу.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рассказываю логику проекта «Умный гараж» и показываю, что каждый модуль ребята уже собирали на прошлых занятиях.</a:t>
            </a:r>
          </a:p>
          <a:p>
            <a:r>
              <a:t>ПОДСКАЗКА: эталонное решение — в сценарии (раздел «Занятие 16»). Ребятам его не показываем — только отдельные куски по запросу.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рассказываю логику проекта «Сейф 2.0» и показываю, что каждый модуль ребята уже собирали на прошлых занятиях.</a:t>
            </a:r>
          </a:p>
          <a:p>
            <a:r>
              <a:t>ПОДСКАЗКА: эталонное решение — в сценарии (раздел «Занятие 16»). Ребятам его не показываем — только отдельные куски по запросу.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«Инженеры называют это гистерезис. Без "окна" устройство на границе будет щёлкать туда-сюда и быстро сломается. Гаражу это тоже нужно: открыть при &lt; 30 см, закрыть при &gt; 50 см».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 (для команд «Сейфа»)</a:t>
            </a:r>
          </a:p>
          <a:p>
            <a:r>
              <a:t>ГОВОРЮ: «Клавиатура — это 16 кнопок, соединённых сеткой: 4 ряда и 4 колонки. Библиотека сама разбирается, какая кнопка нажата».</a:t>
            </a:r>
          </a:p>
          <a:p>
            <a:r>
              <a:t>ДЕЛАЮ: в Cirkit — «4x4 Keypad» из Simulation Parts. Выводы R1–R4 → D13, D12, D11, D10; C1–C4 → D7, D6, D5, D4.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мин</a:t>
            </a:r>
          </a:p>
          <a:p>
            <a:r>
              <a:t>ГОВОРЮ: «Когда вариантов много и все они — конкретные значения, вместо лестницы if используют switch. Это как переключатель каналов: на каком канале — то и показываем».</a:t>
            </a:r>
          </a:p>
          <a:p>
            <a:r>
              <a:t>ЛОВУШКА: без break плата «провалится» в следующий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 мин</a:t>
            </a:r>
          </a:p>
          <a:p>
            <a:r>
              <a:t>ГОВОРЮ: «Это ваш план на 90 минут. Таймер — на доске. Главная стратегия: не собирать всё сразу. Один модуль — проверили — следующий».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 мин</a:t>
            </a:r>
          </a:p>
          <a:p>
            <a:r>
              <a:t>ГОВОРЮ: «Роли — не стены. Если программист застрял — инженер помогает. Но у каждого есть зона ответственности».</a:t>
            </a:r>
          </a:p>
          <a:p>
            <a:r>
              <a:t>ЕСЛИ В КОМАНДЕ 2 ЧЕЛОВЕКА: инженер одновременно тестировщик.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10 мин на все команды</a:t>
            </a:r>
          </a:p>
          <a:p>
            <a:r>
              <a:t>КРИТЕРИИ (для себя): работает ли (0–3), понимает ли код (0–3), аккуратность схемы (0–2), бонус-фишка (0–2).</a:t>
            </a:r>
          </a:p>
          <a:p>
            <a:r>
              <a:t>ГОВОРЮ: «После каждой защиты — один вопрос от зала. Хлопаем каждой команде!»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5 мин</a:t>
            </a:r>
          </a:p>
          <a:p>
            <a:r>
              <a:t>ДЕЛАЮ: раздаю анкеты (те же, что на занятии 1). После заполнения — ребята сравнивают с первой анкетой.</a:t>
            </a:r>
          </a:p>
          <a:p>
            <a:r>
              <a:t>ГОВОРЮ: «16 занятий назад многие из вас впервые увидели Arduino. Сегодня вы спроектировали устройство из пяти модулей. Это и есть путь инженера».</a:t>
            </a:r>
          </a:p>
          <a:p>
            <a:r>
              <a:t>ФИНАЛ: общее фото, подведение итогов модуля.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финал</a:t>
            </a:r>
          </a:p>
          <a:p>
            <a:r>
              <a:t>ГОВОРЮ: «Спасибо! Ваши проекты сохранены в Cirkit — покажите их дома родителям. А ТГ-канал продолжает работать: присылайте свои эксперименты».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">
  <p:cSld name="Обложка с фото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0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40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" name="Google Shape;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+ подзаголовок + 2 карточки (текст-список) +акцент блок">
  <p:cSld name="3_Заголовок + текст + карточки (текст и фото)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6"/>
          <p:cNvSpPr txBox="1"/>
          <p:nvPr>
            <p:ph idx="1" type="body"/>
          </p:nvPr>
        </p:nvSpPr>
        <p:spPr>
          <a:xfrm>
            <a:off x="381975" y="1997575"/>
            <a:ext cx="5560200" cy="319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6"/>
          <p:cNvSpPr txBox="1"/>
          <p:nvPr>
            <p:ph idx="2" type="body"/>
          </p:nvPr>
        </p:nvSpPr>
        <p:spPr>
          <a:xfrm>
            <a:off x="6249800" y="1997675"/>
            <a:ext cx="5560200" cy="3199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6"/>
          <p:cNvSpPr txBox="1"/>
          <p:nvPr>
            <p:ph idx="3" type="body"/>
          </p:nvPr>
        </p:nvSpPr>
        <p:spPr>
          <a:xfrm>
            <a:off x="390150" y="5498325"/>
            <a:ext cx="11419800" cy="9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274300" spcFirstLastPara="1" rIns="274300" wrap="square" tIns="18287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6"/>
          <p:cNvSpPr txBox="1"/>
          <p:nvPr>
            <p:ph type="title"/>
          </p:nvPr>
        </p:nvSpPr>
        <p:spPr>
          <a:xfrm>
            <a:off x="578825" y="368300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6"/>
          <p:cNvSpPr txBox="1"/>
          <p:nvPr>
            <p:ph idx="4" type="subTitle"/>
          </p:nvPr>
        </p:nvSpPr>
        <p:spPr>
          <a:xfrm>
            <a:off x="578825" y="13662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+ фото">
  <p:cSld name="Заголовок + текст + фото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8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8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8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8"/>
          <p:cNvSpPr txBox="1"/>
          <p:nvPr>
            <p:ph idx="4" type="body"/>
          </p:nvPr>
        </p:nvSpPr>
        <p:spPr>
          <a:xfrm>
            <a:off x="371475" y="2196296"/>
            <a:ext cx="5029200" cy="3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5" name="Google Shape;3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 и КГУ (горизонтально)">
  <p:cSld name="Обложка с фото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5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45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5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1" name="Google Shape;4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8900" y="370325"/>
            <a:ext cx="3160898" cy="53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 + спикер с фото">
  <p:cSld name="Обложка + спикер с фото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9"/>
          <p:cNvSpPr txBox="1"/>
          <p:nvPr>
            <p:ph idx="1" type="body"/>
          </p:nvPr>
        </p:nvSpPr>
        <p:spPr>
          <a:xfrm>
            <a:off x="371474" y="1776924"/>
            <a:ext cx="7332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9"/>
          <p:cNvSpPr/>
          <p:nvPr>
            <p:ph idx="2" type="pic"/>
          </p:nvPr>
        </p:nvSpPr>
        <p:spPr>
          <a:xfrm>
            <a:off x="371475" y="4811658"/>
            <a:ext cx="1677900" cy="1677900"/>
          </a:xfrm>
          <a:prstGeom prst="ellipse">
            <a:avLst/>
          </a:prstGeom>
          <a:solidFill>
            <a:srgbClr val="E8ECEF"/>
          </a:solidFill>
          <a:ln>
            <a:noFill/>
          </a:ln>
        </p:spPr>
      </p:sp>
      <p:sp>
        <p:nvSpPr>
          <p:cNvPr id="48" name="Google Shape;48;p49"/>
          <p:cNvSpPr txBox="1"/>
          <p:nvPr>
            <p:ph idx="3" type="body"/>
          </p:nvPr>
        </p:nvSpPr>
        <p:spPr>
          <a:xfrm>
            <a:off x="2242314" y="5432249"/>
            <a:ext cx="5461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9"/>
          <p:cNvSpPr txBox="1"/>
          <p:nvPr>
            <p:ph idx="4" type="body"/>
          </p:nvPr>
        </p:nvSpPr>
        <p:spPr>
          <a:xfrm>
            <a:off x="2242315" y="5049098"/>
            <a:ext cx="54723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30D3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E30D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5" type="body"/>
          </p:nvPr>
        </p:nvSpPr>
        <p:spPr>
          <a:xfrm>
            <a:off x="381984" y="381000"/>
            <a:ext cx="73326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1" name="Google Shape;5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2 колонки-строки">
  <p:cSld name="Заголовок + Таблица 2 колонки-строки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0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2" type="body"/>
          </p:nvPr>
        </p:nvSpPr>
        <p:spPr>
          <a:xfrm>
            <a:off x="371475" y="2003970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50"/>
          <p:cNvSpPr txBox="1"/>
          <p:nvPr>
            <p:ph idx="3" type="body"/>
          </p:nvPr>
        </p:nvSpPr>
        <p:spPr>
          <a:xfrm>
            <a:off x="6085495" y="2003970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50"/>
          <p:cNvSpPr txBox="1"/>
          <p:nvPr>
            <p:ph idx="4" type="body"/>
          </p:nvPr>
        </p:nvSpPr>
        <p:spPr>
          <a:xfrm>
            <a:off x="381980" y="1401808"/>
            <a:ext cx="57141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50"/>
          <p:cNvSpPr txBox="1"/>
          <p:nvPr>
            <p:ph idx="5" type="body"/>
          </p:nvPr>
        </p:nvSpPr>
        <p:spPr>
          <a:xfrm>
            <a:off x="6096001" y="1401808"/>
            <a:ext cx="57246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50"/>
          <p:cNvSpPr txBox="1"/>
          <p:nvPr>
            <p:ph idx="6" type="body"/>
          </p:nvPr>
        </p:nvSpPr>
        <p:spPr>
          <a:xfrm>
            <a:off x="381980" y="2664616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50"/>
          <p:cNvSpPr txBox="1"/>
          <p:nvPr>
            <p:ph idx="7" type="body"/>
          </p:nvPr>
        </p:nvSpPr>
        <p:spPr>
          <a:xfrm>
            <a:off x="6096000" y="2664616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50"/>
          <p:cNvSpPr txBox="1"/>
          <p:nvPr>
            <p:ph idx="8" type="body"/>
          </p:nvPr>
        </p:nvSpPr>
        <p:spPr>
          <a:xfrm>
            <a:off x="381980" y="3325262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50"/>
          <p:cNvSpPr txBox="1"/>
          <p:nvPr>
            <p:ph idx="9" type="body"/>
          </p:nvPr>
        </p:nvSpPr>
        <p:spPr>
          <a:xfrm>
            <a:off x="6096000" y="3325262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50"/>
          <p:cNvSpPr txBox="1"/>
          <p:nvPr>
            <p:ph idx="13" type="body"/>
          </p:nvPr>
        </p:nvSpPr>
        <p:spPr>
          <a:xfrm>
            <a:off x="381980" y="3985908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50"/>
          <p:cNvSpPr txBox="1"/>
          <p:nvPr>
            <p:ph idx="14" type="body"/>
          </p:nvPr>
        </p:nvSpPr>
        <p:spPr>
          <a:xfrm>
            <a:off x="6096000" y="3985908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50"/>
          <p:cNvSpPr txBox="1"/>
          <p:nvPr>
            <p:ph idx="15" type="body"/>
          </p:nvPr>
        </p:nvSpPr>
        <p:spPr>
          <a:xfrm>
            <a:off x="381980" y="4646554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50"/>
          <p:cNvSpPr txBox="1"/>
          <p:nvPr>
            <p:ph idx="16" type="body"/>
          </p:nvPr>
        </p:nvSpPr>
        <p:spPr>
          <a:xfrm>
            <a:off x="6096000" y="4646554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50"/>
          <p:cNvSpPr txBox="1"/>
          <p:nvPr>
            <p:ph idx="17" type="body"/>
          </p:nvPr>
        </p:nvSpPr>
        <p:spPr>
          <a:xfrm>
            <a:off x="381980" y="5307200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50"/>
          <p:cNvSpPr txBox="1"/>
          <p:nvPr>
            <p:ph idx="18" type="body"/>
          </p:nvPr>
        </p:nvSpPr>
        <p:spPr>
          <a:xfrm>
            <a:off x="6096000" y="5307200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50"/>
          <p:cNvSpPr txBox="1"/>
          <p:nvPr>
            <p:ph idx="19" type="body"/>
          </p:nvPr>
        </p:nvSpPr>
        <p:spPr>
          <a:xfrm>
            <a:off x="381980" y="5967843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50"/>
          <p:cNvSpPr txBox="1"/>
          <p:nvPr>
            <p:ph idx="20" type="body"/>
          </p:nvPr>
        </p:nvSpPr>
        <p:spPr>
          <a:xfrm>
            <a:off x="6096000" y="5967843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2" name="Google Shape;7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писок + плашка + фото">
  <p:cSld name="Заголовок + список + плашка + фото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1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51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51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51"/>
          <p:cNvSpPr txBox="1"/>
          <p:nvPr>
            <p:ph idx="4" type="body"/>
          </p:nvPr>
        </p:nvSpPr>
        <p:spPr>
          <a:xfrm>
            <a:off x="371475" y="2149167"/>
            <a:ext cx="50292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51"/>
          <p:cNvSpPr txBox="1"/>
          <p:nvPr>
            <p:ph idx="5" type="body"/>
          </p:nvPr>
        </p:nvSpPr>
        <p:spPr>
          <a:xfrm>
            <a:off x="371476" y="4348815"/>
            <a:ext cx="5039700" cy="11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0" name="Google Shape;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 и КГУ (квадрат)">
  <p:cSld name="Обложка с фото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2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52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52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preencoded.png" id="86" name="Google Shape;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125" y="381000"/>
            <a:ext cx="15875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1" y="379225"/>
            <a:ext cx="1591055" cy="159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 + спикер">
  <p:cSld name="Обложка + спикер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3"/>
          <p:cNvSpPr txBox="1"/>
          <p:nvPr>
            <p:ph idx="1" type="body"/>
          </p:nvPr>
        </p:nvSpPr>
        <p:spPr>
          <a:xfrm>
            <a:off x="371474" y="1776924"/>
            <a:ext cx="5724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53"/>
          <p:cNvSpPr txBox="1"/>
          <p:nvPr>
            <p:ph idx="2" type="body"/>
          </p:nvPr>
        </p:nvSpPr>
        <p:spPr>
          <a:xfrm>
            <a:off x="371474" y="5623515"/>
            <a:ext cx="57246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53"/>
          <p:cNvSpPr txBox="1"/>
          <p:nvPr>
            <p:ph idx="3" type="body"/>
          </p:nvPr>
        </p:nvSpPr>
        <p:spPr>
          <a:xfrm>
            <a:off x="371474" y="5240364"/>
            <a:ext cx="5724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30D3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E30D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53"/>
          <p:cNvSpPr txBox="1"/>
          <p:nvPr>
            <p:ph idx="4" type="body"/>
          </p:nvPr>
        </p:nvSpPr>
        <p:spPr>
          <a:xfrm>
            <a:off x="381984" y="381000"/>
            <a:ext cx="57141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5" name="Google Shape;9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 + фото + сноска">
  <p:cSld name="Обложка + фото + сноска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4"/>
          <p:cNvSpPr txBox="1"/>
          <p:nvPr>
            <p:ph idx="1" type="body"/>
          </p:nvPr>
        </p:nvSpPr>
        <p:spPr>
          <a:xfrm>
            <a:off x="371475" y="4294704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54"/>
          <p:cNvSpPr txBox="1"/>
          <p:nvPr>
            <p:ph idx="2" type="body"/>
          </p:nvPr>
        </p:nvSpPr>
        <p:spPr>
          <a:xfrm>
            <a:off x="371474" y="5623515"/>
            <a:ext cx="54723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54"/>
          <p:cNvSpPr/>
          <p:nvPr>
            <p:ph idx="3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54"/>
          <p:cNvSpPr txBox="1"/>
          <p:nvPr>
            <p:ph idx="4" type="body"/>
          </p:nvPr>
        </p:nvSpPr>
        <p:spPr>
          <a:xfrm>
            <a:off x="381985" y="2914160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2" name="Google Shape;1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писок + фото">
  <p:cSld name="Заголовок + список + фото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5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55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55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55"/>
          <p:cNvSpPr txBox="1"/>
          <p:nvPr>
            <p:ph idx="4" type="body"/>
          </p:nvPr>
        </p:nvSpPr>
        <p:spPr>
          <a:xfrm>
            <a:off x="371475" y="2409305"/>
            <a:ext cx="5029200" cy="30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9" name="Google Shape;1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+ карточки (текст и фото)">
  <p:cSld name="Заголовок + текст + карточки (текст и фото)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6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56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56"/>
          <p:cNvSpPr txBox="1"/>
          <p:nvPr>
            <p:ph idx="3" type="body"/>
          </p:nvPr>
        </p:nvSpPr>
        <p:spPr>
          <a:xfrm>
            <a:off x="371475" y="2196296"/>
            <a:ext cx="72066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6"/>
          <p:cNvSpPr/>
          <p:nvPr/>
        </p:nvSpPr>
        <p:spPr>
          <a:xfrm>
            <a:off x="371475" y="4258950"/>
            <a:ext cx="7206600" cy="223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6"/>
          <p:cNvSpPr/>
          <p:nvPr>
            <p:ph idx="4" type="pic"/>
          </p:nvPr>
        </p:nvSpPr>
        <p:spPr>
          <a:xfrm>
            <a:off x="568325" y="4456881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56"/>
          <p:cNvSpPr txBox="1"/>
          <p:nvPr>
            <p:ph idx="5" type="body"/>
          </p:nvPr>
        </p:nvSpPr>
        <p:spPr>
          <a:xfrm>
            <a:off x="568323" y="5357809"/>
            <a:ext cx="6662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6"/>
          <p:cNvSpPr txBox="1"/>
          <p:nvPr>
            <p:ph idx="6" type="body"/>
          </p:nvPr>
        </p:nvSpPr>
        <p:spPr>
          <a:xfrm>
            <a:off x="1185096" y="4456881"/>
            <a:ext cx="4301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56"/>
          <p:cNvSpPr/>
          <p:nvPr/>
        </p:nvSpPr>
        <p:spPr>
          <a:xfrm>
            <a:off x="7891626" y="4258951"/>
            <a:ext cx="3928800" cy="22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6"/>
          <p:cNvSpPr/>
          <p:nvPr>
            <p:ph idx="7" type="pic"/>
          </p:nvPr>
        </p:nvSpPr>
        <p:spPr>
          <a:xfrm>
            <a:off x="8088476" y="4456882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56"/>
          <p:cNvSpPr txBox="1"/>
          <p:nvPr>
            <p:ph idx="8" type="body"/>
          </p:nvPr>
        </p:nvSpPr>
        <p:spPr>
          <a:xfrm>
            <a:off x="8088474" y="5357810"/>
            <a:ext cx="35352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56"/>
          <p:cNvSpPr txBox="1"/>
          <p:nvPr>
            <p:ph idx="9" type="body"/>
          </p:nvPr>
        </p:nvSpPr>
        <p:spPr>
          <a:xfrm>
            <a:off x="8590947" y="4456882"/>
            <a:ext cx="2918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6"/>
          <p:cNvSpPr/>
          <p:nvPr>
            <p:ph idx="13" type="pic"/>
          </p:nvPr>
        </p:nvSpPr>
        <p:spPr>
          <a:xfrm>
            <a:off x="7882756" y="374731"/>
            <a:ext cx="3939300" cy="357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125" name="Google Shape;125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8" y="4408421"/>
            <a:ext cx="1316650" cy="334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+ текст + 3карточки (текст и фото)">
  <p:cSld name="1_Заголовок + текст + карточки (текст и фото)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7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7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7"/>
          <p:cNvSpPr/>
          <p:nvPr/>
        </p:nvSpPr>
        <p:spPr>
          <a:xfrm>
            <a:off x="381984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7"/>
          <p:cNvSpPr/>
          <p:nvPr>
            <p:ph idx="3" type="pic"/>
          </p:nvPr>
        </p:nvSpPr>
        <p:spPr>
          <a:xfrm>
            <a:off x="57883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57"/>
          <p:cNvSpPr txBox="1"/>
          <p:nvPr>
            <p:ph idx="4" type="body"/>
          </p:nvPr>
        </p:nvSpPr>
        <p:spPr>
          <a:xfrm>
            <a:off x="381975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4" name="Google Shape;134;p57"/>
          <p:cNvSpPr txBox="1"/>
          <p:nvPr>
            <p:ph idx="5" type="body"/>
          </p:nvPr>
        </p:nvSpPr>
        <p:spPr>
          <a:xfrm>
            <a:off x="578833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57"/>
          <p:cNvSpPr/>
          <p:nvPr/>
        </p:nvSpPr>
        <p:spPr>
          <a:xfrm>
            <a:off x="8376745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7"/>
          <p:cNvSpPr/>
          <p:nvPr>
            <p:ph idx="6" type="pic"/>
          </p:nvPr>
        </p:nvSpPr>
        <p:spPr>
          <a:xfrm>
            <a:off x="8573595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57"/>
          <p:cNvSpPr txBox="1"/>
          <p:nvPr>
            <p:ph idx="7" type="body"/>
          </p:nvPr>
        </p:nvSpPr>
        <p:spPr>
          <a:xfrm>
            <a:off x="8376750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57"/>
          <p:cNvSpPr txBox="1"/>
          <p:nvPr>
            <p:ph idx="8" type="body"/>
          </p:nvPr>
        </p:nvSpPr>
        <p:spPr>
          <a:xfrm>
            <a:off x="8573594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57"/>
          <p:cNvSpPr/>
          <p:nvPr/>
        </p:nvSpPr>
        <p:spPr>
          <a:xfrm>
            <a:off x="4379364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7"/>
          <p:cNvSpPr/>
          <p:nvPr>
            <p:ph idx="9" type="pic"/>
          </p:nvPr>
        </p:nvSpPr>
        <p:spPr>
          <a:xfrm>
            <a:off x="457621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57"/>
          <p:cNvSpPr txBox="1"/>
          <p:nvPr>
            <p:ph idx="13" type="body"/>
          </p:nvPr>
        </p:nvSpPr>
        <p:spPr>
          <a:xfrm>
            <a:off x="4379375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4" type="body"/>
          </p:nvPr>
        </p:nvSpPr>
        <p:spPr>
          <a:xfrm>
            <a:off x="4576213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3" name="Google Shape;14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3 колонки-строки">
  <p:cSld name="Заголовок + Таблица 3 колонки-строки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8"/>
          <p:cNvSpPr txBox="1"/>
          <p:nvPr>
            <p:ph idx="1" type="body"/>
          </p:nvPr>
        </p:nvSpPr>
        <p:spPr>
          <a:xfrm>
            <a:off x="381984" y="374731"/>
            <a:ext cx="9240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2" type="body"/>
          </p:nvPr>
        </p:nvSpPr>
        <p:spPr>
          <a:xfrm>
            <a:off x="371475" y="2003970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3" type="body"/>
          </p:nvPr>
        </p:nvSpPr>
        <p:spPr>
          <a:xfrm>
            <a:off x="4151574" y="2003970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4" type="body"/>
          </p:nvPr>
        </p:nvSpPr>
        <p:spPr>
          <a:xfrm>
            <a:off x="7970291" y="2003970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5" type="body"/>
          </p:nvPr>
        </p:nvSpPr>
        <p:spPr>
          <a:xfrm>
            <a:off x="381980" y="1401808"/>
            <a:ext cx="37590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58"/>
          <p:cNvSpPr txBox="1"/>
          <p:nvPr>
            <p:ph idx="6" type="body"/>
          </p:nvPr>
        </p:nvSpPr>
        <p:spPr>
          <a:xfrm>
            <a:off x="4141073" y="1401808"/>
            <a:ext cx="38292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58"/>
          <p:cNvSpPr txBox="1"/>
          <p:nvPr>
            <p:ph idx="7" type="body"/>
          </p:nvPr>
        </p:nvSpPr>
        <p:spPr>
          <a:xfrm>
            <a:off x="7970291" y="1401808"/>
            <a:ext cx="38502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8"/>
          <p:cNvSpPr txBox="1"/>
          <p:nvPr>
            <p:ph idx="8" type="body"/>
          </p:nvPr>
        </p:nvSpPr>
        <p:spPr>
          <a:xfrm>
            <a:off x="381980" y="2664616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8"/>
          <p:cNvSpPr txBox="1"/>
          <p:nvPr>
            <p:ph idx="9" type="body"/>
          </p:nvPr>
        </p:nvSpPr>
        <p:spPr>
          <a:xfrm>
            <a:off x="4162079" y="2664616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8"/>
          <p:cNvSpPr txBox="1"/>
          <p:nvPr>
            <p:ph idx="13" type="body"/>
          </p:nvPr>
        </p:nvSpPr>
        <p:spPr>
          <a:xfrm>
            <a:off x="7980796" y="2664616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8"/>
          <p:cNvSpPr txBox="1"/>
          <p:nvPr>
            <p:ph idx="14" type="body"/>
          </p:nvPr>
        </p:nvSpPr>
        <p:spPr>
          <a:xfrm>
            <a:off x="381980" y="3325262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8"/>
          <p:cNvSpPr txBox="1"/>
          <p:nvPr>
            <p:ph idx="15" type="body"/>
          </p:nvPr>
        </p:nvSpPr>
        <p:spPr>
          <a:xfrm>
            <a:off x="4162079" y="3325262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58"/>
          <p:cNvSpPr txBox="1"/>
          <p:nvPr>
            <p:ph idx="16" type="body"/>
          </p:nvPr>
        </p:nvSpPr>
        <p:spPr>
          <a:xfrm>
            <a:off x="7980796" y="3325262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58"/>
          <p:cNvSpPr txBox="1"/>
          <p:nvPr>
            <p:ph idx="17" type="body"/>
          </p:nvPr>
        </p:nvSpPr>
        <p:spPr>
          <a:xfrm>
            <a:off x="381980" y="3985908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58"/>
          <p:cNvSpPr txBox="1"/>
          <p:nvPr>
            <p:ph idx="18" type="body"/>
          </p:nvPr>
        </p:nvSpPr>
        <p:spPr>
          <a:xfrm>
            <a:off x="4162079" y="3985908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58"/>
          <p:cNvSpPr txBox="1"/>
          <p:nvPr>
            <p:ph idx="19" type="body"/>
          </p:nvPr>
        </p:nvSpPr>
        <p:spPr>
          <a:xfrm>
            <a:off x="7980796" y="3985908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58"/>
          <p:cNvSpPr txBox="1"/>
          <p:nvPr>
            <p:ph idx="20" type="body"/>
          </p:nvPr>
        </p:nvSpPr>
        <p:spPr>
          <a:xfrm>
            <a:off x="381980" y="4646554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58"/>
          <p:cNvSpPr txBox="1"/>
          <p:nvPr>
            <p:ph idx="21" type="body"/>
          </p:nvPr>
        </p:nvSpPr>
        <p:spPr>
          <a:xfrm>
            <a:off x="4162079" y="4646554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58"/>
          <p:cNvSpPr txBox="1"/>
          <p:nvPr>
            <p:ph idx="22" type="body"/>
          </p:nvPr>
        </p:nvSpPr>
        <p:spPr>
          <a:xfrm>
            <a:off x="7980796" y="4646554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p58"/>
          <p:cNvSpPr txBox="1"/>
          <p:nvPr>
            <p:ph idx="23" type="body"/>
          </p:nvPr>
        </p:nvSpPr>
        <p:spPr>
          <a:xfrm>
            <a:off x="381980" y="5307200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58"/>
          <p:cNvSpPr txBox="1"/>
          <p:nvPr>
            <p:ph idx="24" type="body"/>
          </p:nvPr>
        </p:nvSpPr>
        <p:spPr>
          <a:xfrm>
            <a:off x="4162079" y="5307200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58"/>
          <p:cNvSpPr txBox="1"/>
          <p:nvPr>
            <p:ph idx="25" type="body"/>
          </p:nvPr>
        </p:nvSpPr>
        <p:spPr>
          <a:xfrm>
            <a:off x="7980796" y="5307200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58"/>
          <p:cNvSpPr txBox="1"/>
          <p:nvPr>
            <p:ph idx="26" type="body"/>
          </p:nvPr>
        </p:nvSpPr>
        <p:spPr>
          <a:xfrm>
            <a:off x="381980" y="5967843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58"/>
          <p:cNvSpPr txBox="1"/>
          <p:nvPr>
            <p:ph idx="27" type="body"/>
          </p:nvPr>
        </p:nvSpPr>
        <p:spPr>
          <a:xfrm>
            <a:off x="4162079" y="5967843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58"/>
          <p:cNvSpPr txBox="1"/>
          <p:nvPr>
            <p:ph idx="28" type="body"/>
          </p:nvPr>
        </p:nvSpPr>
        <p:spPr>
          <a:xfrm>
            <a:off x="7980796" y="5967843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2" name="Google Shape;17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3 колонки">
  <p:cSld name="Заголовок + Таблица 3 колонки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9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59"/>
          <p:cNvSpPr txBox="1"/>
          <p:nvPr>
            <p:ph idx="2" type="body"/>
          </p:nvPr>
        </p:nvSpPr>
        <p:spPr>
          <a:xfrm>
            <a:off x="371475" y="2003970"/>
            <a:ext cx="3780000" cy="448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59"/>
          <p:cNvSpPr txBox="1"/>
          <p:nvPr>
            <p:ph idx="3" type="body"/>
          </p:nvPr>
        </p:nvSpPr>
        <p:spPr>
          <a:xfrm>
            <a:off x="4151575" y="2003970"/>
            <a:ext cx="3818700" cy="448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59"/>
          <p:cNvSpPr txBox="1"/>
          <p:nvPr>
            <p:ph idx="4" type="body"/>
          </p:nvPr>
        </p:nvSpPr>
        <p:spPr>
          <a:xfrm>
            <a:off x="7970291" y="2003970"/>
            <a:ext cx="3850200" cy="448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59"/>
          <p:cNvSpPr txBox="1"/>
          <p:nvPr>
            <p:ph idx="5" type="body"/>
          </p:nvPr>
        </p:nvSpPr>
        <p:spPr>
          <a:xfrm>
            <a:off x="381980" y="1401808"/>
            <a:ext cx="37590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59"/>
          <p:cNvSpPr txBox="1"/>
          <p:nvPr>
            <p:ph idx="6" type="body"/>
          </p:nvPr>
        </p:nvSpPr>
        <p:spPr>
          <a:xfrm>
            <a:off x="4141073" y="1401808"/>
            <a:ext cx="38292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59"/>
          <p:cNvSpPr txBox="1"/>
          <p:nvPr>
            <p:ph idx="7" type="body"/>
          </p:nvPr>
        </p:nvSpPr>
        <p:spPr>
          <a:xfrm>
            <a:off x="7970291" y="1401808"/>
            <a:ext cx="38502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3" name="Google Shape;18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2 колонки">
  <p:cSld name="Заголовок + Таблица 2 колонки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0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60"/>
          <p:cNvSpPr txBox="1"/>
          <p:nvPr>
            <p:ph idx="2" type="body"/>
          </p:nvPr>
        </p:nvSpPr>
        <p:spPr>
          <a:xfrm>
            <a:off x="371475" y="2003970"/>
            <a:ext cx="5724600" cy="4479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60"/>
          <p:cNvSpPr txBox="1"/>
          <p:nvPr>
            <p:ph idx="3" type="body"/>
          </p:nvPr>
        </p:nvSpPr>
        <p:spPr>
          <a:xfrm>
            <a:off x="6095999" y="2003970"/>
            <a:ext cx="5703600" cy="44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60"/>
          <p:cNvSpPr txBox="1"/>
          <p:nvPr>
            <p:ph idx="4" type="body"/>
          </p:nvPr>
        </p:nvSpPr>
        <p:spPr>
          <a:xfrm>
            <a:off x="381980" y="1401808"/>
            <a:ext cx="57141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60"/>
          <p:cNvSpPr txBox="1"/>
          <p:nvPr>
            <p:ph idx="5" type="body"/>
          </p:nvPr>
        </p:nvSpPr>
        <p:spPr>
          <a:xfrm>
            <a:off x="6096001" y="1401808"/>
            <a:ext cx="57246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2" name="Google Shape;19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+ карточки (текст и фото)">
  <p:cSld name="2_Заголовок + текст + карточки (текст и фото)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1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61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61"/>
          <p:cNvSpPr/>
          <p:nvPr/>
        </p:nvSpPr>
        <p:spPr>
          <a:xfrm>
            <a:off x="371475" y="4258950"/>
            <a:ext cx="7206600" cy="223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1"/>
          <p:cNvSpPr/>
          <p:nvPr>
            <p:ph idx="3" type="pic"/>
          </p:nvPr>
        </p:nvSpPr>
        <p:spPr>
          <a:xfrm>
            <a:off x="568325" y="4456881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61"/>
          <p:cNvSpPr txBox="1"/>
          <p:nvPr>
            <p:ph idx="4" type="body"/>
          </p:nvPr>
        </p:nvSpPr>
        <p:spPr>
          <a:xfrm>
            <a:off x="568323" y="5357809"/>
            <a:ext cx="6662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61"/>
          <p:cNvSpPr txBox="1"/>
          <p:nvPr>
            <p:ph idx="5" type="body"/>
          </p:nvPr>
        </p:nvSpPr>
        <p:spPr>
          <a:xfrm>
            <a:off x="1185096" y="4456881"/>
            <a:ext cx="4301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61"/>
          <p:cNvSpPr/>
          <p:nvPr/>
        </p:nvSpPr>
        <p:spPr>
          <a:xfrm>
            <a:off x="7891626" y="4258951"/>
            <a:ext cx="3928800" cy="2230800"/>
          </a:xfrm>
          <a:prstGeom prst="rect">
            <a:avLst/>
          </a:prstGeom>
          <a:solidFill>
            <a:srgbClr val="1E3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1"/>
          <p:cNvSpPr/>
          <p:nvPr>
            <p:ph idx="6" type="pic"/>
          </p:nvPr>
        </p:nvSpPr>
        <p:spPr>
          <a:xfrm>
            <a:off x="8088476" y="4456882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61"/>
          <p:cNvSpPr txBox="1"/>
          <p:nvPr>
            <p:ph idx="7" type="body"/>
          </p:nvPr>
        </p:nvSpPr>
        <p:spPr>
          <a:xfrm>
            <a:off x="8088474" y="5357810"/>
            <a:ext cx="35352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61"/>
          <p:cNvSpPr/>
          <p:nvPr/>
        </p:nvSpPr>
        <p:spPr>
          <a:xfrm>
            <a:off x="7891625" y="363397"/>
            <a:ext cx="3928800" cy="35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1"/>
          <p:cNvSpPr txBox="1"/>
          <p:nvPr>
            <p:ph idx="8" type="body"/>
          </p:nvPr>
        </p:nvSpPr>
        <p:spPr>
          <a:xfrm>
            <a:off x="371475" y="2196296"/>
            <a:ext cx="72066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61"/>
          <p:cNvSpPr txBox="1"/>
          <p:nvPr>
            <p:ph idx="9" type="body"/>
          </p:nvPr>
        </p:nvSpPr>
        <p:spPr>
          <a:xfrm>
            <a:off x="8590947" y="4456882"/>
            <a:ext cx="2918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08" name="Google Shape;20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8" y="4408421"/>
            <a:ext cx="1316650" cy="334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+ подзаголовок +2 карточки (иконка+заголовок+текст)">
  <p:cSld name="3_Заголовок + текст + карточки (текст и фото)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2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62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62"/>
          <p:cNvSpPr/>
          <p:nvPr/>
        </p:nvSpPr>
        <p:spPr>
          <a:xfrm>
            <a:off x="381984" y="23136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2"/>
          <p:cNvSpPr/>
          <p:nvPr/>
        </p:nvSpPr>
        <p:spPr>
          <a:xfrm>
            <a:off x="6249798" y="23136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2"/>
          <p:cNvSpPr txBox="1"/>
          <p:nvPr>
            <p:ph idx="3" type="body"/>
          </p:nvPr>
        </p:nvSpPr>
        <p:spPr>
          <a:xfrm>
            <a:off x="381975" y="40768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62"/>
          <p:cNvSpPr txBox="1"/>
          <p:nvPr>
            <p:ph idx="4" type="body"/>
          </p:nvPr>
        </p:nvSpPr>
        <p:spPr>
          <a:xfrm>
            <a:off x="6249800" y="40769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62"/>
          <p:cNvSpPr/>
          <p:nvPr>
            <p:ph idx="5" type="pic"/>
          </p:nvPr>
        </p:nvSpPr>
        <p:spPr>
          <a:xfrm>
            <a:off x="57883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62"/>
          <p:cNvSpPr/>
          <p:nvPr>
            <p:ph idx="6" type="pic"/>
          </p:nvPr>
        </p:nvSpPr>
        <p:spPr>
          <a:xfrm>
            <a:off x="6461759" y="262890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62"/>
          <p:cNvSpPr txBox="1"/>
          <p:nvPr>
            <p:ph idx="7" type="body"/>
          </p:nvPr>
        </p:nvSpPr>
        <p:spPr>
          <a:xfrm>
            <a:off x="578825" y="32374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62"/>
          <p:cNvSpPr txBox="1"/>
          <p:nvPr>
            <p:ph idx="8" type="body"/>
          </p:nvPr>
        </p:nvSpPr>
        <p:spPr>
          <a:xfrm>
            <a:off x="6461750" y="32374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+2 карточки (иконка+заголовок+текст) +акцент блок">
  <p:cSld name="3_Заголовок + текст + карточки (текст и фото)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3"/>
          <p:cNvSpPr txBox="1"/>
          <p:nvPr>
            <p:ph idx="1" type="body"/>
          </p:nvPr>
        </p:nvSpPr>
        <p:spPr>
          <a:xfrm>
            <a:off x="381975" y="374725"/>
            <a:ext cx="87012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63"/>
          <p:cNvSpPr/>
          <p:nvPr/>
        </p:nvSpPr>
        <p:spPr>
          <a:xfrm>
            <a:off x="381984" y="13662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3"/>
          <p:cNvSpPr/>
          <p:nvPr/>
        </p:nvSpPr>
        <p:spPr>
          <a:xfrm>
            <a:off x="6249798" y="13662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3"/>
          <p:cNvSpPr txBox="1"/>
          <p:nvPr>
            <p:ph idx="2" type="body"/>
          </p:nvPr>
        </p:nvSpPr>
        <p:spPr>
          <a:xfrm>
            <a:off x="381975" y="31294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63"/>
          <p:cNvSpPr txBox="1"/>
          <p:nvPr>
            <p:ph idx="3" type="body"/>
          </p:nvPr>
        </p:nvSpPr>
        <p:spPr>
          <a:xfrm>
            <a:off x="6249800" y="31295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63"/>
          <p:cNvSpPr/>
          <p:nvPr>
            <p:ph idx="4" type="pic"/>
          </p:nvPr>
        </p:nvSpPr>
        <p:spPr>
          <a:xfrm>
            <a:off x="578834" y="15641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63"/>
          <p:cNvSpPr/>
          <p:nvPr>
            <p:ph idx="5" type="pic"/>
          </p:nvPr>
        </p:nvSpPr>
        <p:spPr>
          <a:xfrm>
            <a:off x="6461759" y="168150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63"/>
          <p:cNvSpPr txBox="1"/>
          <p:nvPr>
            <p:ph idx="6" type="body"/>
          </p:nvPr>
        </p:nvSpPr>
        <p:spPr>
          <a:xfrm>
            <a:off x="578825" y="22900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5" name="Google Shape;235;p63"/>
          <p:cNvSpPr txBox="1"/>
          <p:nvPr>
            <p:ph idx="7" type="body"/>
          </p:nvPr>
        </p:nvSpPr>
        <p:spPr>
          <a:xfrm>
            <a:off x="6461750" y="22900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63"/>
          <p:cNvSpPr txBox="1"/>
          <p:nvPr>
            <p:ph idx="8" type="body"/>
          </p:nvPr>
        </p:nvSpPr>
        <p:spPr>
          <a:xfrm>
            <a:off x="390150" y="5498325"/>
            <a:ext cx="11419800" cy="9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274300" spcFirstLastPara="1" rIns="274300" wrap="square" tIns="18287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+ фото">
  <p:cSld name="Заголовок + текст + фото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2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4" type="body"/>
          </p:nvPr>
        </p:nvSpPr>
        <p:spPr>
          <a:xfrm>
            <a:off x="371475" y="2196296"/>
            <a:ext cx="5029200" cy="3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44" name="Google Shape;24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 и КГУ (горизонтально)">
  <p:cSld name="Обложка с фото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3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3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0" name="Google Shape;25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8900" y="370325"/>
            <a:ext cx="3160898" cy="53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 + спикер с фото">
  <p:cSld name="Обложка + спикер с фото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371474" y="1776924"/>
            <a:ext cx="7332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44"/>
          <p:cNvSpPr/>
          <p:nvPr>
            <p:ph idx="2" type="pic"/>
          </p:nvPr>
        </p:nvSpPr>
        <p:spPr>
          <a:xfrm>
            <a:off x="371475" y="4811658"/>
            <a:ext cx="1677900" cy="1677900"/>
          </a:xfrm>
          <a:prstGeom prst="ellipse">
            <a:avLst/>
          </a:prstGeom>
          <a:solidFill>
            <a:srgbClr val="E8ECEF"/>
          </a:solidFill>
          <a:ln>
            <a:noFill/>
          </a:ln>
        </p:spPr>
      </p:sp>
      <p:sp>
        <p:nvSpPr>
          <p:cNvPr id="257" name="Google Shape;257;p44"/>
          <p:cNvSpPr txBox="1"/>
          <p:nvPr>
            <p:ph idx="3" type="body"/>
          </p:nvPr>
        </p:nvSpPr>
        <p:spPr>
          <a:xfrm>
            <a:off x="2242314" y="5432249"/>
            <a:ext cx="5461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44"/>
          <p:cNvSpPr txBox="1"/>
          <p:nvPr>
            <p:ph idx="4" type="body"/>
          </p:nvPr>
        </p:nvSpPr>
        <p:spPr>
          <a:xfrm>
            <a:off x="2242315" y="5049098"/>
            <a:ext cx="54723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30D3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E30D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44"/>
          <p:cNvSpPr txBox="1"/>
          <p:nvPr>
            <p:ph idx="5" type="body"/>
          </p:nvPr>
        </p:nvSpPr>
        <p:spPr>
          <a:xfrm>
            <a:off x="381984" y="381000"/>
            <a:ext cx="73326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60" name="Google Shape;26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+ карточки (текст и фото)">
  <p:cSld name="Заголовок + текст + карточки (текст и фото)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4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64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6" name="Google Shape;266;p64"/>
          <p:cNvSpPr txBox="1"/>
          <p:nvPr>
            <p:ph idx="3" type="body"/>
          </p:nvPr>
        </p:nvSpPr>
        <p:spPr>
          <a:xfrm>
            <a:off x="371475" y="2196296"/>
            <a:ext cx="72066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p64"/>
          <p:cNvSpPr/>
          <p:nvPr/>
        </p:nvSpPr>
        <p:spPr>
          <a:xfrm>
            <a:off x="371475" y="4258950"/>
            <a:ext cx="7206600" cy="223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4"/>
          <p:cNvSpPr/>
          <p:nvPr>
            <p:ph idx="4" type="pic"/>
          </p:nvPr>
        </p:nvSpPr>
        <p:spPr>
          <a:xfrm>
            <a:off x="568325" y="4456881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64"/>
          <p:cNvSpPr txBox="1"/>
          <p:nvPr>
            <p:ph idx="5" type="body"/>
          </p:nvPr>
        </p:nvSpPr>
        <p:spPr>
          <a:xfrm>
            <a:off x="568323" y="5357809"/>
            <a:ext cx="6662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64"/>
          <p:cNvSpPr txBox="1"/>
          <p:nvPr>
            <p:ph idx="6" type="body"/>
          </p:nvPr>
        </p:nvSpPr>
        <p:spPr>
          <a:xfrm>
            <a:off x="1185096" y="4456881"/>
            <a:ext cx="4301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64"/>
          <p:cNvSpPr/>
          <p:nvPr/>
        </p:nvSpPr>
        <p:spPr>
          <a:xfrm>
            <a:off x="7891626" y="4258951"/>
            <a:ext cx="3928800" cy="22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4"/>
          <p:cNvSpPr/>
          <p:nvPr>
            <p:ph idx="7" type="pic"/>
          </p:nvPr>
        </p:nvSpPr>
        <p:spPr>
          <a:xfrm>
            <a:off x="8088476" y="4456882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64"/>
          <p:cNvSpPr txBox="1"/>
          <p:nvPr>
            <p:ph idx="8" type="body"/>
          </p:nvPr>
        </p:nvSpPr>
        <p:spPr>
          <a:xfrm>
            <a:off x="8088474" y="5357810"/>
            <a:ext cx="35352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4" name="Google Shape;274;p64"/>
          <p:cNvSpPr txBox="1"/>
          <p:nvPr>
            <p:ph idx="9" type="body"/>
          </p:nvPr>
        </p:nvSpPr>
        <p:spPr>
          <a:xfrm>
            <a:off x="8590947" y="4456882"/>
            <a:ext cx="2918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64"/>
          <p:cNvSpPr/>
          <p:nvPr>
            <p:ph idx="13" type="pic"/>
          </p:nvPr>
        </p:nvSpPr>
        <p:spPr>
          <a:xfrm>
            <a:off x="7882756" y="374731"/>
            <a:ext cx="3939300" cy="357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276" name="Google Shape;27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8" y="4408421"/>
            <a:ext cx="1316650" cy="334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писок + плашка + фото">
  <p:cSld name="Заголовок + список + плашка + фото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5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65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1" name="Google Shape;281;p65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2" name="Google Shape;282;p65"/>
          <p:cNvSpPr txBox="1"/>
          <p:nvPr>
            <p:ph idx="4" type="body"/>
          </p:nvPr>
        </p:nvSpPr>
        <p:spPr>
          <a:xfrm>
            <a:off x="371475" y="2149167"/>
            <a:ext cx="50292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3" name="Google Shape;283;p65"/>
          <p:cNvSpPr txBox="1"/>
          <p:nvPr>
            <p:ph idx="5" type="body"/>
          </p:nvPr>
        </p:nvSpPr>
        <p:spPr>
          <a:xfrm>
            <a:off x="371476" y="4348815"/>
            <a:ext cx="5039700" cy="111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84" name="Google Shape;28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">
  <p:cSld name="Обложка с фото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6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66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66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0" name="Google Shape;290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+ подзаголовок +2 карточки (иконка+заголовок+текст)">
  <p:cSld name="3_Заголовок + текст + карточки (текст и фото)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7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67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67"/>
          <p:cNvSpPr/>
          <p:nvPr/>
        </p:nvSpPr>
        <p:spPr>
          <a:xfrm>
            <a:off x="381984" y="23136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7"/>
          <p:cNvSpPr/>
          <p:nvPr/>
        </p:nvSpPr>
        <p:spPr>
          <a:xfrm>
            <a:off x="6249798" y="23136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7"/>
          <p:cNvSpPr txBox="1"/>
          <p:nvPr>
            <p:ph idx="3" type="body"/>
          </p:nvPr>
        </p:nvSpPr>
        <p:spPr>
          <a:xfrm>
            <a:off x="381975" y="40768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67"/>
          <p:cNvSpPr txBox="1"/>
          <p:nvPr>
            <p:ph idx="4" type="body"/>
          </p:nvPr>
        </p:nvSpPr>
        <p:spPr>
          <a:xfrm>
            <a:off x="6249800" y="40769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67"/>
          <p:cNvSpPr/>
          <p:nvPr>
            <p:ph idx="5" type="pic"/>
          </p:nvPr>
        </p:nvSpPr>
        <p:spPr>
          <a:xfrm>
            <a:off x="57883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67"/>
          <p:cNvSpPr/>
          <p:nvPr>
            <p:ph idx="6" type="pic"/>
          </p:nvPr>
        </p:nvSpPr>
        <p:spPr>
          <a:xfrm>
            <a:off x="6461759" y="262890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67"/>
          <p:cNvSpPr txBox="1"/>
          <p:nvPr>
            <p:ph idx="7" type="body"/>
          </p:nvPr>
        </p:nvSpPr>
        <p:spPr>
          <a:xfrm>
            <a:off x="578825" y="32374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67"/>
          <p:cNvSpPr txBox="1"/>
          <p:nvPr>
            <p:ph idx="8" type="body"/>
          </p:nvPr>
        </p:nvSpPr>
        <p:spPr>
          <a:xfrm>
            <a:off x="6461750" y="32374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+2 карточки (иконка+заголовок+текст) +акцент блок">
  <p:cSld name="3_Заголовок + текст + карточки (текст и фото)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68"/>
          <p:cNvSpPr txBox="1"/>
          <p:nvPr>
            <p:ph idx="1" type="body"/>
          </p:nvPr>
        </p:nvSpPr>
        <p:spPr>
          <a:xfrm>
            <a:off x="381975" y="374725"/>
            <a:ext cx="87012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68"/>
          <p:cNvSpPr/>
          <p:nvPr/>
        </p:nvSpPr>
        <p:spPr>
          <a:xfrm>
            <a:off x="381984" y="13662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8"/>
          <p:cNvSpPr/>
          <p:nvPr/>
        </p:nvSpPr>
        <p:spPr>
          <a:xfrm>
            <a:off x="6249798" y="1366225"/>
            <a:ext cx="5560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8"/>
          <p:cNvSpPr txBox="1"/>
          <p:nvPr>
            <p:ph idx="2" type="body"/>
          </p:nvPr>
        </p:nvSpPr>
        <p:spPr>
          <a:xfrm>
            <a:off x="381975" y="31294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p68"/>
          <p:cNvSpPr txBox="1"/>
          <p:nvPr>
            <p:ph idx="3" type="body"/>
          </p:nvPr>
        </p:nvSpPr>
        <p:spPr>
          <a:xfrm>
            <a:off x="6249800" y="3129575"/>
            <a:ext cx="5560200" cy="206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274300" spcFirstLastPara="1" rIns="274300" wrap="square" tIns="1800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68"/>
          <p:cNvSpPr/>
          <p:nvPr>
            <p:ph idx="4" type="pic"/>
          </p:nvPr>
        </p:nvSpPr>
        <p:spPr>
          <a:xfrm>
            <a:off x="578834" y="15641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68"/>
          <p:cNvSpPr/>
          <p:nvPr>
            <p:ph idx="5" type="pic"/>
          </p:nvPr>
        </p:nvSpPr>
        <p:spPr>
          <a:xfrm>
            <a:off x="6461759" y="168150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68"/>
          <p:cNvSpPr txBox="1"/>
          <p:nvPr>
            <p:ph idx="6" type="body"/>
          </p:nvPr>
        </p:nvSpPr>
        <p:spPr>
          <a:xfrm>
            <a:off x="578825" y="22900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68"/>
          <p:cNvSpPr txBox="1"/>
          <p:nvPr>
            <p:ph idx="7" type="body"/>
          </p:nvPr>
        </p:nvSpPr>
        <p:spPr>
          <a:xfrm>
            <a:off x="6461750" y="2290050"/>
            <a:ext cx="5163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667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667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667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p68"/>
          <p:cNvSpPr txBox="1"/>
          <p:nvPr>
            <p:ph idx="8" type="body"/>
          </p:nvPr>
        </p:nvSpPr>
        <p:spPr>
          <a:xfrm>
            <a:off x="390150" y="5498325"/>
            <a:ext cx="11419800" cy="9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274300" spcFirstLastPara="1" rIns="274300" wrap="square" tIns="18287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3 колонки-строки">
  <p:cSld name="Заголовок + Таблица 3 колонки-строки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9"/>
          <p:cNvSpPr txBox="1"/>
          <p:nvPr>
            <p:ph idx="1" type="body"/>
          </p:nvPr>
        </p:nvSpPr>
        <p:spPr>
          <a:xfrm>
            <a:off x="381984" y="374731"/>
            <a:ext cx="9240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69"/>
          <p:cNvSpPr txBox="1"/>
          <p:nvPr>
            <p:ph idx="2" type="body"/>
          </p:nvPr>
        </p:nvSpPr>
        <p:spPr>
          <a:xfrm>
            <a:off x="371475" y="2003970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69"/>
          <p:cNvSpPr txBox="1"/>
          <p:nvPr>
            <p:ph idx="3" type="body"/>
          </p:nvPr>
        </p:nvSpPr>
        <p:spPr>
          <a:xfrm>
            <a:off x="4151574" y="2003970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69"/>
          <p:cNvSpPr txBox="1"/>
          <p:nvPr>
            <p:ph idx="4" type="body"/>
          </p:nvPr>
        </p:nvSpPr>
        <p:spPr>
          <a:xfrm>
            <a:off x="7970291" y="2003970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p69"/>
          <p:cNvSpPr txBox="1"/>
          <p:nvPr>
            <p:ph idx="5" type="body"/>
          </p:nvPr>
        </p:nvSpPr>
        <p:spPr>
          <a:xfrm>
            <a:off x="381980" y="1401808"/>
            <a:ext cx="37590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7" name="Google Shape;327;p69"/>
          <p:cNvSpPr txBox="1"/>
          <p:nvPr>
            <p:ph idx="6" type="body"/>
          </p:nvPr>
        </p:nvSpPr>
        <p:spPr>
          <a:xfrm>
            <a:off x="4141073" y="1401808"/>
            <a:ext cx="38292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8" name="Google Shape;328;p69"/>
          <p:cNvSpPr txBox="1"/>
          <p:nvPr>
            <p:ph idx="7" type="body"/>
          </p:nvPr>
        </p:nvSpPr>
        <p:spPr>
          <a:xfrm>
            <a:off x="7970291" y="1401808"/>
            <a:ext cx="38502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69"/>
          <p:cNvSpPr txBox="1"/>
          <p:nvPr>
            <p:ph idx="8" type="body"/>
          </p:nvPr>
        </p:nvSpPr>
        <p:spPr>
          <a:xfrm>
            <a:off x="381980" y="2664616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" name="Google Shape;330;p69"/>
          <p:cNvSpPr txBox="1"/>
          <p:nvPr>
            <p:ph idx="9" type="body"/>
          </p:nvPr>
        </p:nvSpPr>
        <p:spPr>
          <a:xfrm>
            <a:off x="4162079" y="2664616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1" name="Google Shape;331;p69"/>
          <p:cNvSpPr txBox="1"/>
          <p:nvPr>
            <p:ph idx="13" type="body"/>
          </p:nvPr>
        </p:nvSpPr>
        <p:spPr>
          <a:xfrm>
            <a:off x="7980796" y="2664616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p69"/>
          <p:cNvSpPr txBox="1"/>
          <p:nvPr>
            <p:ph idx="14" type="body"/>
          </p:nvPr>
        </p:nvSpPr>
        <p:spPr>
          <a:xfrm>
            <a:off x="381980" y="3325262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p69"/>
          <p:cNvSpPr txBox="1"/>
          <p:nvPr>
            <p:ph idx="15" type="body"/>
          </p:nvPr>
        </p:nvSpPr>
        <p:spPr>
          <a:xfrm>
            <a:off x="4162079" y="3325262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4" name="Google Shape;334;p69"/>
          <p:cNvSpPr txBox="1"/>
          <p:nvPr>
            <p:ph idx="16" type="body"/>
          </p:nvPr>
        </p:nvSpPr>
        <p:spPr>
          <a:xfrm>
            <a:off x="7980796" y="3325262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69"/>
          <p:cNvSpPr txBox="1"/>
          <p:nvPr>
            <p:ph idx="17" type="body"/>
          </p:nvPr>
        </p:nvSpPr>
        <p:spPr>
          <a:xfrm>
            <a:off x="381980" y="3985908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69"/>
          <p:cNvSpPr txBox="1"/>
          <p:nvPr>
            <p:ph idx="18" type="body"/>
          </p:nvPr>
        </p:nvSpPr>
        <p:spPr>
          <a:xfrm>
            <a:off x="4162079" y="3985908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p69"/>
          <p:cNvSpPr txBox="1"/>
          <p:nvPr>
            <p:ph idx="19" type="body"/>
          </p:nvPr>
        </p:nvSpPr>
        <p:spPr>
          <a:xfrm>
            <a:off x="7980796" y="3985908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69"/>
          <p:cNvSpPr txBox="1"/>
          <p:nvPr>
            <p:ph idx="20" type="body"/>
          </p:nvPr>
        </p:nvSpPr>
        <p:spPr>
          <a:xfrm>
            <a:off x="381980" y="4646554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69"/>
          <p:cNvSpPr txBox="1"/>
          <p:nvPr>
            <p:ph idx="21" type="body"/>
          </p:nvPr>
        </p:nvSpPr>
        <p:spPr>
          <a:xfrm>
            <a:off x="4162079" y="4646554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69"/>
          <p:cNvSpPr txBox="1"/>
          <p:nvPr>
            <p:ph idx="22" type="body"/>
          </p:nvPr>
        </p:nvSpPr>
        <p:spPr>
          <a:xfrm>
            <a:off x="7980796" y="4646554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1" name="Google Shape;341;p69"/>
          <p:cNvSpPr txBox="1"/>
          <p:nvPr>
            <p:ph idx="23" type="body"/>
          </p:nvPr>
        </p:nvSpPr>
        <p:spPr>
          <a:xfrm>
            <a:off x="381980" y="5307200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2" name="Google Shape;342;p69"/>
          <p:cNvSpPr txBox="1"/>
          <p:nvPr>
            <p:ph idx="24" type="body"/>
          </p:nvPr>
        </p:nvSpPr>
        <p:spPr>
          <a:xfrm>
            <a:off x="4162079" y="5307200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3" name="Google Shape;343;p69"/>
          <p:cNvSpPr txBox="1"/>
          <p:nvPr>
            <p:ph idx="25" type="body"/>
          </p:nvPr>
        </p:nvSpPr>
        <p:spPr>
          <a:xfrm>
            <a:off x="7980796" y="5307200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4" name="Google Shape;344;p69"/>
          <p:cNvSpPr txBox="1"/>
          <p:nvPr>
            <p:ph idx="26" type="body"/>
          </p:nvPr>
        </p:nvSpPr>
        <p:spPr>
          <a:xfrm>
            <a:off x="381980" y="5967843"/>
            <a:ext cx="37800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5" name="Google Shape;345;p69"/>
          <p:cNvSpPr txBox="1"/>
          <p:nvPr>
            <p:ph idx="27" type="body"/>
          </p:nvPr>
        </p:nvSpPr>
        <p:spPr>
          <a:xfrm>
            <a:off x="4162079" y="5967843"/>
            <a:ext cx="3818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69"/>
          <p:cNvSpPr txBox="1"/>
          <p:nvPr>
            <p:ph idx="28" type="body"/>
          </p:nvPr>
        </p:nvSpPr>
        <p:spPr>
          <a:xfrm>
            <a:off x="7980796" y="5967843"/>
            <a:ext cx="38502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47" name="Google Shape;34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+ текст + 3карточки (текст и фото)">
  <p:cSld name="1_Заголовок + текст + карточки (текст и фото)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70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70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70"/>
          <p:cNvSpPr/>
          <p:nvPr/>
        </p:nvSpPr>
        <p:spPr>
          <a:xfrm>
            <a:off x="381984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70"/>
          <p:cNvSpPr/>
          <p:nvPr>
            <p:ph idx="3" type="pic"/>
          </p:nvPr>
        </p:nvSpPr>
        <p:spPr>
          <a:xfrm>
            <a:off x="57883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70"/>
          <p:cNvSpPr txBox="1"/>
          <p:nvPr>
            <p:ph idx="4" type="body"/>
          </p:nvPr>
        </p:nvSpPr>
        <p:spPr>
          <a:xfrm>
            <a:off x="381975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6" name="Google Shape;356;p70"/>
          <p:cNvSpPr txBox="1"/>
          <p:nvPr>
            <p:ph idx="5" type="body"/>
          </p:nvPr>
        </p:nvSpPr>
        <p:spPr>
          <a:xfrm>
            <a:off x="578833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7" name="Google Shape;357;p70"/>
          <p:cNvSpPr/>
          <p:nvPr/>
        </p:nvSpPr>
        <p:spPr>
          <a:xfrm>
            <a:off x="8376745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0"/>
          <p:cNvSpPr/>
          <p:nvPr>
            <p:ph idx="6" type="pic"/>
          </p:nvPr>
        </p:nvSpPr>
        <p:spPr>
          <a:xfrm>
            <a:off x="8573595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70"/>
          <p:cNvSpPr txBox="1"/>
          <p:nvPr>
            <p:ph idx="7" type="body"/>
          </p:nvPr>
        </p:nvSpPr>
        <p:spPr>
          <a:xfrm>
            <a:off x="8376750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0" name="Google Shape;360;p70"/>
          <p:cNvSpPr txBox="1"/>
          <p:nvPr>
            <p:ph idx="8" type="body"/>
          </p:nvPr>
        </p:nvSpPr>
        <p:spPr>
          <a:xfrm>
            <a:off x="8573594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1" name="Google Shape;361;p70"/>
          <p:cNvSpPr/>
          <p:nvPr/>
        </p:nvSpPr>
        <p:spPr>
          <a:xfrm>
            <a:off x="4379364" y="2313625"/>
            <a:ext cx="3433200" cy="315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0"/>
          <p:cNvSpPr/>
          <p:nvPr>
            <p:ph idx="9" type="pic"/>
          </p:nvPr>
        </p:nvSpPr>
        <p:spPr>
          <a:xfrm>
            <a:off x="4576214" y="2511556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70"/>
          <p:cNvSpPr txBox="1"/>
          <p:nvPr>
            <p:ph idx="13" type="body"/>
          </p:nvPr>
        </p:nvSpPr>
        <p:spPr>
          <a:xfrm>
            <a:off x="4379375" y="4277700"/>
            <a:ext cx="3433200" cy="9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182875" lIns="274300" spcFirstLastPara="1" rIns="274300" wrap="square" tIns="1828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4" name="Google Shape;364;p70"/>
          <p:cNvSpPr txBox="1"/>
          <p:nvPr>
            <p:ph idx="14" type="body"/>
          </p:nvPr>
        </p:nvSpPr>
        <p:spPr>
          <a:xfrm>
            <a:off x="4576213" y="3584216"/>
            <a:ext cx="2889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65" name="Google Shape;365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3 колонки">
  <p:cSld name="Заголовок + Таблица 3 колонки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71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0" name="Google Shape;370;p71"/>
          <p:cNvSpPr txBox="1"/>
          <p:nvPr>
            <p:ph idx="2" type="body"/>
          </p:nvPr>
        </p:nvSpPr>
        <p:spPr>
          <a:xfrm>
            <a:off x="371475" y="2003970"/>
            <a:ext cx="3780000" cy="448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71"/>
          <p:cNvSpPr txBox="1"/>
          <p:nvPr>
            <p:ph idx="3" type="body"/>
          </p:nvPr>
        </p:nvSpPr>
        <p:spPr>
          <a:xfrm>
            <a:off x="4151575" y="2003970"/>
            <a:ext cx="3818700" cy="448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2" name="Google Shape;372;p71"/>
          <p:cNvSpPr txBox="1"/>
          <p:nvPr>
            <p:ph idx="4" type="body"/>
          </p:nvPr>
        </p:nvSpPr>
        <p:spPr>
          <a:xfrm>
            <a:off x="7970291" y="2003970"/>
            <a:ext cx="3850200" cy="4485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3" name="Google Shape;373;p71"/>
          <p:cNvSpPr txBox="1"/>
          <p:nvPr>
            <p:ph idx="5" type="body"/>
          </p:nvPr>
        </p:nvSpPr>
        <p:spPr>
          <a:xfrm>
            <a:off x="381980" y="1401808"/>
            <a:ext cx="37590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4" name="Google Shape;374;p71"/>
          <p:cNvSpPr txBox="1"/>
          <p:nvPr>
            <p:ph idx="6" type="body"/>
          </p:nvPr>
        </p:nvSpPr>
        <p:spPr>
          <a:xfrm>
            <a:off x="4141073" y="1401808"/>
            <a:ext cx="38292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5" name="Google Shape;375;p71"/>
          <p:cNvSpPr txBox="1"/>
          <p:nvPr>
            <p:ph idx="7" type="body"/>
          </p:nvPr>
        </p:nvSpPr>
        <p:spPr>
          <a:xfrm>
            <a:off x="7970291" y="1401808"/>
            <a:ext cx="38502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76" name="Google Shape;37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2 колонки-строки">
  <p:cSld name="Заголовок + Таблица 2 колонки-строки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72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1" name="Google Shape;381;p72"/>
          <p:cNvSpPr txBox="1"/>
          <p:nvPr>
            <p:ph idx="2" type="body"/>
          </p:nvPr>
        </p:nvSpPr>
        <p:spPr>
          <a:xfrm>
            <a:off x="371475" y="2003970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72"/>
          <p:cNvSpPr txBox="1"/>
          <p:nvPr>
            <p:ph idx="3" type="body"/>
          </p:nvPr>
        </p:nvSpPr>
        <p:spPr>
          <a:xfrm>
            <a:off x="6085495" y="2003970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3" name="Google Shape;383;p72"/>
          <p:cNvSpPr txBox="1"/>
          <p:nvPr>
            <p:ph idx="4" type="body"/>
          </p:nvPr>
        </p:nvSpPr>
        <p:spPr>
          <a:xfrm>
            <a:off x="381980" y="1401808"/>
            <a:ext cx="57141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4" name="Google Shape;384;p72"/>
          <p:cNvSpPr txBox="1"/>
          <p:nvPr>
            <p:ph idx="5" type="body"/>
          </p:nvPr>
        </p:nvSpPr>
        <p:spPr>
          <a:xfrm>
            <a:off x="6096001" y="1401808"/>
            <a:ext cx="57246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5" name="Google Shape;385;p72"/>
          <p:cNvSpPr txBox="1"/>
          <p:nvPr>
            <p:ph idx="6" type="body"/>
          </p:nvPr>
        </p:nvSpPr>
        <p:spPr>
          <a:xfrm>
            <a:off x="381980" y="2664616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6" name="Google Shape;386;p72"/>
          <p:cNvSpPr txBox="1"/>
          <p:nvPr>
            <p:ph idx="7" type="body"/>
          </p:nvPr>
        </p:nvSpPr>
        <p:spPr>
          <a:xfrm>
            <a:off x="6096000" y="2664616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7" name="Google Shape;387;p72"/>
          <p:cNvSpPr txBox="1"/>
          <p:nvPr>
            <p:ph idx="8" type="body"/>
          </p:nvPr>
        </p:nvSpPr>
        <p:spPr>
          <a:xfrm>
            <a:off x="381980" y="3325262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8" name="Google Shape;388;p72"/>
          <p:cNvSpPr txBox="1"/>
          <p:nvPr>
            <p:ph idx="9" type="body"/>
          </p:nvPr>
        </p:nvSpPr>
        <p:spPr>
          <a:xfrm>
            <a:off x="6096000" y="3325262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9" name="Google Shape;389;p72"/>
          <p:cNvSpPr txBox="1"/>
          <p:nvPr>
            <p:ph idx="13" type="body"/>
          </p:nvPr>
        </p:nvSpPr>
        <p:spPr>
          <a:xfrm>
            <a:off x="381980" y="3985908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0" name="Google Shape;390;p72"/>
          <p:cNvSpPr txBox="1"/>
          <p:nvPr>
            <p:ph idx="14" type="body"/>
          </p:nvPr>
        </p:nvSpPr>
        <p:spPr>
          <a:xfrm>
            <a:off x="6096000" y="3985908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1" name="Google Shape;391;p72"/>
          <p:cNvSpPr txBox="1"/>
          <p:nvPr>
            <p:ph idx="15" type="body"/>
          </p:nvPr>
        </p:nvSpPr>
        <p:spPr>
          <a:xfrm>
            <a:off x="381980" y="4646554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2" name="Google Shape;392;p72"/>
          <p:cNvSpPr txBox="1"/>
          <p:nvPr>
            <p:ph idx="16" type="body"/>
          </p:nvPr>
        </p:nvSpPr>
        <p:spPr>
          <a:xfrm>
            <a:off x="6096000" y="4646554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3" name="Google Shape;393;p72"/>
          <p:cNvSpPr txBox="1"/>
          <p:nvPr>
            <p:ph idx="17" type="body"/>
          </p:nvPr>
        </p:nvSpPr>
        <p:spPr>
          <a:xfrm>
            <a:off x="381980" y="5307200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72"/>
          <p:cNvSpPr txBox="1"/>
          <p:nvPr>
            <p:ph idx="18" type="body"/>
          </p:nvPr>
        </p:nvSpPr>
        <p:spPr>
          <a:xfrm>
            <a:off x="6096000" y="5307200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5" name="Google Shape;395;p72"/>
          <p:cNvSpPr txBox="1"/>
          <p:nvPr>
            <p:ph idx="19" type="body"/>
          </p:nvPr>
        </p:nvSpPr>
        <p:spPr>
          <a:xfrm>
            <a:off x="381980" y="5967843"/>
            <a:ext cx="5714100" cy="51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6" name="Google Shape;396;p72"/>
          <p:cNvSpPr txBox="1"/>
          <p:nvPr>
            <p:ph idx="20" type="body"/>
          </p:nvPr>
        </p:nvSpPr>
        <p:spPr>
          <a:xfrm>
            <a:off x="6096000" y="5967843"/>
            <a:ext cx="57141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97" name="Google Shape;397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аблица 2 колонки">
  <p:cSld name="Заголовок + Таблица 2 колонки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73"/>
          <p:cNvSpPr txBox="1"/>
          <p:nvPr>
            <p:ph idx="1" type="body"/>
          </p:nvPr>
        </p:nvSpPr>
        <p:spPr>
          <a:xfrm>
            <a:off x="381984" y="374731"/>
            <a:ext cx="9771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2" name="Google Shape;402;p73"/>
          <p:cNvSpPr txBox="1"/>
          <p:nvPr>
            <p:ph idx="2" type="body"/>
          </p:nvPr>
        </p:nvSpPr>
        <p:spPr>
          <a:xfrm>
            <a:off x="371475" y="2003970"/>
            <a:ext cx="5724600" cy="4479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73"/>
          <p:cNvSpPr txBox="1"/>
          <p:nvPr>
            <p:ph idx="3" type="body"/>
          </p:nvPr>
        </p:nvSpPr>
        <p:spPr>
          <a:xfrm>
            <a:off x="6095999" y="2003970"/>
            <a:ext cx="5703600" cy="447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4" name="Google Shape;404;p73"/>
          <p:cNvSpPr txBox="1"/>
          <p:nvPr>
            <p:ph idx="4" type="body"/>
          </p:nvPr>
        </p:nvSpPr>
        <p:spPr>
          <a:xfrm>
            <a:off x="381980" y="1401808"/>
            <a:ext cx="5714100" cy="45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5" name="Google Shape;405;p73"/>
          <p:cNvSpPr txBox="1"/>
          <p:nvPr>
            <p:ph idx="5" type="body"/>
          </p:nvPr>
        </p:nvSpPr>
        <p:spPr>
          <a:xfrm>
            <a:off x="6096001" y="1401808"/>
            <a:ext cx="5724600" cy="45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80000" lIns="180000" spcFirstLastPara="1" rIns="180000" wrap="square" tIns="1800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6" name="Google Shape;406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4367" y="3810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+ карточки (текст и фото)">
  <p:cSld name="2_Заголовок + текст + карточки (текст и фото)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19415" y="2"/>
            <a:ext cx="4172585" cy="502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4"/>
          <p:cNvSpPr txBox="1"/>
          <p:nvPr>
            <p:ph idx="1" type="body"/>
          </p:nvPr>
        </p:nvSpPr>
        <p:spPr>
          <a:xfrm>
            <a:off x="371474" y="1392732"/>
            <a:ext cx="72066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1" name="Google Shape;411;p74"/>
          <p:cNvSpPr txBox="1"/>
          <p:nvPr>
            <p:ph idx="2" type="body"/>
          </p:nvPr>
        </p:nvSpPr>
        <p:spPr>
          <a:xfrm>
            <a:off x="381984" y="374731"/>
            <a:ext cx="71961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2" name="Google Shape;412;p74"/>
          <p:cNvSpPr/>
          <p:nvPr/>
        </p:nvSpPr>
        <p:spPr>
          <a:xfrm>
            <a:off x="371475" y="4258950"/>
            <a:ext cx="7206600" cy="223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4"/>
          <p:cNvSpPr/>
          <p:nvPr>
            <p:ph idx="3" type="pic"/>
          </p:nvPr>
        </p:nvSpPr>
        <p:spPr>
          <a:xfrm>
            <a:off x="568325" y="4456881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74"/>
          <p:cNvSpPr txBox="1"/>
          <p:nvPr>
            <p:ph idx="4" type="body"/>
          </p:nvPr>
        </p:nvSpPr>
        <p:spPr>
          <a:xfrm>
            <a:off x="568323" y="5357809"/>
            <a:ext cx="66627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74"/>
          <p:cNvSpPr txBox="1"/>
          <p:nvPr>
            <p:ph idx="5" type="body"/>
          </p:nvPr>
        </p:nvSpPr>
        <p:spPr>
          <a:xfrm>
            <a:off x="1185096" y="4456881"/>
            <a:ext cx="4301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6" name="Google Shape;416;p74"/>
          <p:cNvSpPr/>
          <p:nvPr/>
        </p:nvSpPr>
        <p:spPr>
          <a:xfrm>
            <a:off x="7891626" y="4258951"/>
            <a:ext cx="3928800" cy="2230800"/>
          </a:xfrm>
          <a:prstGeom prst="rect">
            <a:avLst/>
          </a:prstGeom>
          <a:solidFill>
            <a:srgbClr val="1E3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4"/>
          <p:cNvSpPr/>
          <p:nvPr>
            <p:ph idx="6" type="pic"/>
          </p:nvPr>
        </p:nvSpPr>
        <p:spPr>
          <a:xfrm>
            <a:off x="8088476" y="4456882"/>
            <a:ext cx="420000" cy="4200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74"/>
          <p:cNvSpPr txBox="1"/>
          <p:nvPr>
            <p:ph idx="7" type="body"/>
          </p:nvPr>
        </p:nvSpPr>
        <p:spPr>
          <a:xfrm>
            <a:off x="8088474" y="5357810"/>
            <a:ext cx="35352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74"/>
          <p:cNvSpPr/>
          <p:nvPr/>
        </p:nvSpPr>
        <p:spPr>
          <a:xfrm>
            <a:off x="7891625" y="363397"/>
            <a:ext cx="3928800" cy="358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4"/>
          <p:cNvSpPr txBox="1"/>
          <p:nvPr>
            <p:ph idx="8" type="body"/>
          </p:nvPr>
        </p:nvSpPr>
        <p:spPr>
          <a:xfrm>
            <a:off x="371475" y="2196296"/>
            <a:ext cx="7206600" cy="17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1" name="Google Shape;421;p74"/>
          <p:cNvSpPr txBox="1"/>
          <p:nvPr>
            <p:ph idx="9" type="body"/>
          </p:nvPr>
        </p:nvSpPr>
        <p:spPr>
          <a:xfrm>
            <a:off x="8590947" y="4456882"/>
            <a:ext cx="29184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22" name="Google Shape;42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98" y="4408421"/>
            <a:ext cx="1316650" cy="334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 фото и КГУ (квадрат)">
  <p:cSld name="Обложка с фото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75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75"/>
          <p:cNvSpPr txBox="1"/>
          <p:nvPr>
            <p:ph idx="1" type="body"/>
          </p:nvPr>
        </p:nvSpPr>
        <p:spPr>
          <a:xfrm>
            <a:off x="371475" y="6111875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75"/>
          <p:cNvSpPr txBox="1"/>
          <p:nvPr>
            <p:ph idx="3" type="body"/>
          </p:nvPr>
        </p:nvSpPr>
        <p:spPr>
          <a:xfrm>
            <a:off x="381985" y="4731331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Arial"/>
              <a:buNone/>
              <a:defRPr b="1" i="0" sz="40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preencoded.png" id="428" name="Google Shape;428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125" y="381000"/>
            <a:ext cx="15875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1" y="379225"/>
            <a:ext cx="1591055" cy="1591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 + фото + сноска">
  <p:cSld name="Обложка + фото + сноска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76"/>
          <p:cNvSpPr txBox="1"/>
          <p:nvPr>
            <p:ph idx="1" type="body"/>
          </p:nvPr>
        </p:nvSpPr>
        <p:spPr>
          <a:xfrm>
            <a:off x="371475" y="4294704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76"/>
          <p:cNvSpPr txBox="1"/>
          <p:nvPr>
            <p:ph idx="2" type="body"/>
          </p:nvPr>
        </p:nvSpPr>
        <p:spPr>
          <a:xfrm>
            <a:off x="371474" y="5623515"/>
            <a:ext cx="54723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4" name="Google Shape;434;p76"/>
          <p:cNvSpPr/>
          <p:nvPr>
            <p:ph idx="3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76"/>
          <p:cNvSpPr txBox="1"/>
          <p:nvPr>
            <p:ph idx="4" type="body"/>
          </p:nvPr>
        </p:nvSpPr>
        <p:spPr>
          <a:xfrm>
            <a:off x="381985" y="2914160"/>
            <a:ext cx="50292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36" name="Google Shape;43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368300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писок + фото">
  <p:cSld name="Заголовок + список + фото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288452"/>
            <a:ext cx="3661671" cy="356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77"/>
          <p:cNvSpPr/>
          <p:nvPr>
            <p:ph idx="2" type="pic"/>
          </p:nvPr>
        </p:nvSpPr>
        <p:spPr>
          <a:xfrm>
            <a:off x="6096000" y="1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77"/>
          <p:cNvSpPr txBox="1"/>
          <p:nvPr>
            <p:ph idx="1" type="body"/>
          </p:nvPr>
        </p:nvSpPr>
        <p:spPr>
          <a:xfrm>
            <a:off x="371475" y="1392732"/>
            <a:ext cx="5029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D6D6D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6D6D6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1" name="Google Shape;441;p77"/>
          <p:cNvSpPr txBox="1"/>
          <p:nvPr>
            <p:ph idx="3" type="body"/>
          </p:nvPr>
        </p:nvSpPr>
        <p:spPr>
          <a:xfrm>
            <a:off x="381985" y="374731"/>
            <a:ext cx="50292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2" name="Google Shape;442;p77"/>
          <p:cNvSpPr txBox="1"/>
          <p:nvPr>
            <p:ph idx="4" type="body"/>
          </p:nvPr>
        </p:nvSpPr>
        <p:spPr>
          <a:xfrm>
            <a:off x="371475" y="2409305"/>
            <a:ext cx="5029200" cy="30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3" name="Google Shape;44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67" y="6001025"/>
            <a:ext cx="1926151" cy="48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8"/>
          <p:cNvSpPr txBox="1"/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6" name="Google Shape;446;p78"/>
          <p:cNvSpPr txBox="1"/>
          <p:nvPr>
            <p:ph idx="10" type="dt"/>
          </p:nvPr>
        </p:nvSpPr>
        <p:spPr>
          <a:xfrm>
            <a:off x="609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7" name="Google Shape;447;p78"/>
          <p:cNvSpPr txBox="1"/>
          <p:nvPr>
            <p:ph idx="11" type="ftr"/>
          </p:nvPr>
        </p:nvSpPr>
        <p:spPr>
          <a:xfrm>
            <a:off x="4165600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8" name="Google Shape;448;p78"/>
          <p:cNvSpPr txBox="1"/>
          <p:nvPr>
            <p:ph idx="12" type="sldNum"/>
          </p:nvPr>
        </p:nvSpPr>
        <p:spPr>
          <a:xfrm>
            <a:off x="8737600" y="6248400"/>
            <a:ext cx="284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Занятия 9–16 · Cirkit Designer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Arduino. Модуль 2: виртуальная лаборатория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Симулятор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37947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Экран LCD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Датчики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61688"/>
            <a:ext cx="159105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Сервопривод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0455" y="43616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Дальномер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9215" y="4361688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millis()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928616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Хакатон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мы уже умеем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Оживить плату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1455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loop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pinMode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digitalWrite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delay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— мигалка Blink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4710" y="146304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62331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331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Собрать цепь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10" y="2743200"/>
            <a:ext cx="211455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Макетка, светодиод, резистор, переменные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— сигнал 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146304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6937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7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Слушать мир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79" y="2743200"/>
            <a:ext cx="211455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Кнопка, баззер,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if / else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tone()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— телеграф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6849" y="146304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1544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44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Укрощать хаос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5449" y="2743200"/>
            <a:ext cx="211455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Массивы и цикл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— бегущий огонь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Аналог и ШИМ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211455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Потенциометр,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analogRead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analogWrite</a:t>
            </a:r>
            <a:r>
              <a:rPr sz="13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map()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94710" y="402336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3623310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3310" y="484632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Умный дом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3310" y="5303520"/>
            <a:ext cx="211455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Датчик звука и переменная состояния — хлопковый ночник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779" y="402336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69379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9379" y="484632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Безопасность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9379" y="5303520"/>
            <a:ext cx="211455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RFID, SPI, библиотеки, RGB — «свой-чужой»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6849" y="4023360"/>
            <a:ext cx="257175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15449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5449" y="484632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Финал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5449" y="5303520"/>
            <a:ext cx="211455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Проекты из нескольких модулей: сейф, диско-лампа, замок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План модуля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109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263640"/>
                <a:gridCol w="3840480"/>
              </a:tblGrid>
              <a:tr h="5283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>
                    <a:solidFill>
                      <a:srgbClr val="1E3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Arial"/>
                        </a:rPr>
                        <a:t>Тема</a:t>
                      </a:r>
                    </a:p>
                  </a:txBody>
                  <a:tcPr>
                    <a:solidFill>
                      <a:srgbClr val="1E30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Arial"/>
                        </a:rPr>
                        <a:t>Миссия</a:t>
                      </a:r>
                    </a:p>
                  </a:txBody>
                  <a:tcPr>
                    <a:solidFill>
                      <a:srgbClr val="1E30D3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Виртуальная лаборатория: переезд в Cirkit Designer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Светофор с кнопкой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Свои команды: функции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Электронный кубик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Робот заговорил: экран LCD 16×2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Табло-счётчик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Метеостанция: температура и влажность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Метеостанция с RGB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Движение: сервопривод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Шлагбаум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Летучая мышь: ультразвуковой дальномер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Парктроник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Многозадачность: millis() вместо delay()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Парктроник 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0D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D1D1D"/>
                          </a:solidFill>
                          <a:latin typeface="Arial"/>
                        </a:rPr>
                        <a:t>Финальный хакатон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D1D1D"/>
                          </a:solidFill>
                          <a:latin typeface="Arial"/>
                        </a:rPr>
                        <a:t>Теплица · Гараж · Сейф 2.0</a:t>
                      </a:r>
                    </a:p>
                  </a:txBody>
                  <a:tcPr anchor="ctr">
                    <a:solidFill>
                      <a:srgbClr val="F3F6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Финальная цель: три проекта «умного города»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Умная теплица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Датчик температуры, форточка на сервоприводе, экран и RGB. Жарко — форточка сама открывается.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Умный гараж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Дальномер видит машину и поднимает шлагбаум. Парктроник пищит, если подъехали слишком близко.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Сейф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Клавиатура 4×4, код на экране звёздочками, серво-замок и сирена после трёх ошибок.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9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Виртуальная лаборатория: переезд в Cirkit Designer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202996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Cirkit 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9367" y="3794760"/>
            <a:ext cx="170078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INPUT_PULLUP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43616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== != &gt; &lt;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361688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Монитор порта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48672" y="4361688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Светофор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Чем симулятор отличается от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настоящей платы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устроен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Cirkit Designer</a:t>
            </a:r>
            <a:r>
              <a:rPr sz="1800" b="0" i="0">
                <a:solidFill>
                  <a:srgbClr val="1D1D1D"/>
                </a:solidFill>
                <a:latin typeface="Arial"/>
              </a:rPr>
              <a:t>: Design, Code, Simulate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читать кнопку без резистора: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INPUT_PULLUP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сравнивать числа: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==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!=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&gt;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&lt;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смотреть, что думает плата: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монитор порта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первую схему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в браузере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Перенесёте туда Blink из занятия 1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Запустите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светофор с кнопкой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для пешехода и звуковым сигналом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Настоящая плата VS симулятор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0C0C0C"/>
                </a:solidFill>
                <a:latin typeface="Arial"/>
              </a:rPr>
              <a:t>Настоящая плата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Чувствуешь детали руками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Можно взять домой и показать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Деталь можно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сжечь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Набор деталей ограничен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Ошибку в проводах искать долго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Симулятор Cirkit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Сотни деталей: экраны, датчики, моторы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Ничего не сгорит — можно экспериментировать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Работает в браузере, дома тоже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Код — тот же язык Arduino C++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Правила инженера —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те же самые</a:t>
            </a:r>
          </a:p>
        </p:txBody>
      </p:sp>
      <p:sp>
        <p:nvSpPr>
          <p:cNvPr id="9" name="Oval 8"/>
          <p:cNvSpPr/>
          <p:nvPr/>
        </p:nvSpPr>
        <p:spPr>
          <a:xfrm>
            <a:off x="5692140" y="34518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Интерфейс: вкладка Design (схема)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7178040" cy="43168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Скриншот Cirkit Designer" descr="cirkit_desig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22538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624613" y="143075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428749" y="1740789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960244" y="197996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985837" y="2520315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554730" y="3317557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5051774" y="1740789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5069490" y="143075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150876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463040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Вкладки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Design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(схема) ·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Code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(код) ·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(запуск)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220109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55371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Поиск деталей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LED, Pushbutton, Resistor…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2893422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47702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Simulation Parts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только детали, которые оживают в симуляции</a:t>
            </a:r>
          </a:p>
        </p:txBody>
      </p:sp>
      <p:sp>
        <p:nvSpPr>
          <p:cNvPr id="18" name="Oval 17"/>
          <p:cNvSpPr/>
          <p:nvPr/>
        </p:nvSpPr>
        <p:spPr>
          <a:xfrm>
            <a:off x="8001000" y="3585754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40034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Карточки деталей: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перетащите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нужную на поле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4278085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32365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Рабочее поле: здесь собираем схему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4970417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24697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Play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запуск симуляции</a:t>
            </a:r>
          </a:p>
        </p:txBody>
      </p:sp>
      <p:sp>
        <p:nvSpPr>
          <p:cNvPr id="24" name="Oval 23"/>
          <p:cNvSpPr/>
          <p:nvPr/>
        </p:nvSpPr>
        <p:spPr>
          <a:xfrm>
            <a:off x="8001000" y="5662748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17028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Cirkit AI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помощник (только с разрешения!)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Интерфейс: вкладка Code (код)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7178040" cy="43168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Скриншот Cirkit Designer" descr="cirkit_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22538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16350" y="1793938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517332" y="1997678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1012412" y="2989802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2624613" y="2077402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740789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4192524" y="1740789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2846070" y="537267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150876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463040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Libraries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библиотеки (понадобятся с занятия 11)</a:t>
            </a:r>
          </a:p>
        </p:txBody>
      </p:sp>
      <p:sp>
        <p:nvSpPr>
          <p:cNvPr id="14" name="Oval 13"/>
          <p:cNvSpPr/>
          <p:nvPr/>
        </p:nvSpPr>
        <p:spPr>
          <a:xfrm>
            <a:off x="8001000" y="220109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155371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Поиск библиотеки по названию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2893422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47702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подключить библиотеку к проекту</a:t>
            </a:r>
          </a:p>
        </p:txBody>
      </p:sp>
      <p:sp>
        <p:nvSpPr>
          <p:cNvPr id="18" name="Oval 17"/>
          <p:cNvSpPr/>
          <p:nvPr/>
        </p:nvSpPr>
        <p:spPr>
          <a:xfrm>
            <a:off x="8001000" y="3585754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40034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sketch.ino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наш скетч, как в Arduino IDE</a:t>
            </a:r>
          </a:p>
        </p:txBody>
      </p:sp>
      <p:sp>
        <p:nvSpPr>
          <p:cNvPr id="20" name="Oval 19"/>
          <p:cNvSpPr/>
          <p:nvPr/>
        </p:nvSpPr>
        <p:spPr>
          <a:xfrm>
            <a:off x="8001000" y="4278085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32365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Выбор платы: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Arduino UNO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4970417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24697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Verify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проверить код (галочка из Arduino IDE)</a:t>
            </a:r>
          </a:p>
        </p:txBody>
      </p:sp>
      <p:sp>
        <p:nvSpPr>
          <p:cNvPr id="24" name="Oval 23"/>
          <p:cNvSpPr/>
          <p:nvPr/>
        </p:nvSpPr>
        <p:spPr>
          <a:xfrm>
            <a:off x="8001000" y="5662748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17028"/>
            <a:ext cx="3154680" cy="6923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Verification Output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здесь будут ошибки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Интерфейс: вкладка Simulate (запуск)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7178040" cy="43168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Скриншот Cirkit Designer" descr="cirkit_s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086600" cy="422538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023235" y="143075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4972050" y="1740789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529137" y="238744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897255" y="537267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1508760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63040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Вкладка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Simulate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2221991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76272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Play / Stop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запустить или остановить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2935224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89504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Во время симуляции кнопки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нажимаются мышкой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у датчиков меняются значения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3648456"/>
            <a:ext cx="365760" cy="365760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02736"/>
            <a:ext cx="315468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Simulation Console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наш монитор порта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Как собрать схему в Cirkit: 5 шагов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Плата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Найдите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Arduino UNO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 перетащите на поле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054096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Детали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Добавьте детали из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Simulation Parts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LED, Resistor, Pushbutton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330952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Провода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Кликните по выводу детали и протяните провод к пину платы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07808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Код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Вкладка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Code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пишем скетч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56064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884664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Запуск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Вкладка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Play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 Не работает? Stop → ищем ошибку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11109960" cy="109727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1097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D1D1D"/>
                </a:solidFill>
                <a:latin typeface="Arial"/>
              </a:rPr>
              <a:t>Договоримся о цветах проводов: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красный — 5V, чёрный — GND, остальные — сигналы. Так любую схему можно проверить за 10 секунд.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Правила виртуальной лаборатории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Сохраняйся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Имя проекта: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Фамилия_Занятие9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 Сохраняем после каждого успешного шага.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Только Simulation Parts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Деталь из Diagramming Parts не оживёт — схема молча не заработает.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Сначала сам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Cirkit AI — только после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двух своих попыток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с разрешения преподавателя.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Цвета проводов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306324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Красный — 5V, чёрный — GND. Схема должна читаться с одного взгляда.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023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72000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Схема → код → 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03520"/>
            <a:ext cx="306324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 жмём Play, пока не проверили провода. Привычка инженера!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02336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366760" y="425196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8463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Помогаем друг другу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06324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Глупых вопросов не бывает. Нашёл ошибку у соседа — подскажи, но не делай за него.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Разминка: Blink в симуляторе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72160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ledPin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500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500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sketch.ino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Схема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Светодиод: длинная ножка (+)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D10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короткая (−) → резистор 220 Ом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GND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Проверка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Verify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вкладка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Play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 Светодиод мигает?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Эксперимент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Поменяйте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500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на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100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 А на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2000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Кнопка без резистора: INPUT_PULLUP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Внутри платы есть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свой резистор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который тянет пин к 5V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Включается так: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pinMode(2, INPUT_PULLUP);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Кнопку подключаем между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пином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GND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и всё!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Логика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перевёрнута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не нажата →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HIGH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нажата →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LOW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Помните ошибку из занятия 3 «пищит, а при нажатии молчит»? Вот её причина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6289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0" y="1627632"/>
            <a:ext cx="22631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Кнопка НЕ нажата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5170" y="2057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53935"/>
                </a:solidFill>
                <a:latin typeface="Courier New"/>
              </a:rPr>
              <a:t>5V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32370" y="2331720"/>
            <a:ext cx="0" cy="274320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4354" y="2606040"/>
            <a:ext cx="256032" cy="640080"/>
          </a:xfrm>
          <a:prstGeom prst="roundRect">
            <a:avLst>
              <a:gd name="adj" fmla="val 20000"/>
            </a:avLst>
          </a:prstGeom>
          <a:solidFill>
            <a:srgbClr val="FFE0B2"/>
          </a:solidFill>
          <a:ln w="15875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15250" y="2651760"/>
            <a:ext cx="10858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Arial"/>
              </a:rPr>
              <a:t>резистор внутри платы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32370" y="3246120"/>
            <a:ext cx="0" cy="502919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50074" y="3666744"/>
            <a:ext cx="164592" cy="164592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566160"/>
            <a:ext cx="104013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E30D3"/>
                </a:solidFill>
                <a:latin typeface="Arial"/>
              </a:rPr>
              <a:t>пин D2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32370" y="3749039"/>
            <a:ext cx="0" cy="320041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32370" y="4069080"/>
            <a:ext cx="292608" cy="365760"/>
          </a:xfrm>
          <a:prstGeom prst="line">
            <a:avLst/>
          </a:prstGeom>
          <a:ln w="381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06690" y="4069080"/>
            <a:ext cx="99440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Arial"/>
              </a:rPr>
              <a:t>кнопка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32370" y="4526280"/>
            <a:ext cx="0" cy="228600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75170" y="4754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63238"/>
                </a:solidFill>
                <a:latin typeface="Courier New"/>
              </a:rPr>
              <a:t>GND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5623559"/>
            <a:ext cx="2080260" cy="438912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digitalRead = 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9700" y="1463040"/>
            <a:ext cx="26289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12580" y="1627632"/>
            <a:ext cx="22631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Кнопка нажата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6950" y="2057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E53935"/>
                </a:solidFill>
                <a:latin typeface="Courier New"/>
              </a:rPr>
              <a:t>5V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44150" y="2331720"/>
            <a:ext cx="0" cy="274320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216134" y="2606040"/>
            <a:ext cx="256032" cy="640080"/>
          </a:xfrm>
          <a:prstGeom prst="roundRect">
            <a:avLst>
              <a:gd name="adj" fmla="val 20000"/>
            </a:avLst>
          </a:prstGeom>
          <a:solidFill>
            <a:srgbClr val="FFE0B2"/>
          </a:solidFill>
          <a:ln w="15875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27030" y="2651760"/>
            <a:ext cx="10858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Arial"/>
              </a:rPr>
              <a:t>резистор внутри платы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44150" y="3246120"/>
            <a:ext cx="0" cy="502919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261854" y="3666744"/>
            <a:ext cx="164592" cy="164592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1140" y="3566160"/>
            <a:ext cx="104013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1E30D3"/>
                </a:solidFill>
                <a:latin typeface="Arial"/>
              </a:rPr>
              <a:t>пин D2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44150" y="3749039"/>
            <a:ext cx="0" cy="320041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344150" y="4069080"/>
            <a:ext cx="0" cy="457200"/>
          </a:xfrm>
          <a:prstGeom prst="line">
            <a:avLst/>
          </a:prstGeom>
          <a:ln w="381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18470" y="4069080"/>
            <a:ext cx="99440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Arial"/>
              </a:rPr>
              <a:t>кнопка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44150" y="4526280"/>
            <a:ext cx="0" cy="228600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886950" y="47548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63238"/>
                </a:solidFill>
                <a:latin typeface="Courier New"/>
              </a:rPr>
              <a:t>GND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4020" y="5623559"/>
            <a:ext cx="2080260" cy="438912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digitalRead = 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Сравнения: как плата задаёт вопросы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691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равно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148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button ==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!=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691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не равно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148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count !=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6916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больше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1488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temp &gt; 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&lt;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918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меньше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4903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cm &lt;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26280" y="32004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&gt;=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2918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больше или равно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74903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count &gt;=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63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E30D3"/>
                </a:solidFill>
                <a:latin typeface="Courier New"/>
              </a:rPr>
              <a:t>&lt;=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2918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меньше или равно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74903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t &lt;= 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11109960" cy="1508760"/>
          </a:xfrm>
          <a:prstGeom prst="roundRect">
            <a:avLst>
              <a:gd name="adj" fmla="val 8000"/>
            </a:avLst>
          </a:prstGeom>
          <a:solidFill>
            <a:srgbClr val="D93025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4846320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Ловушка!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>
                <a:solidFill>
                  <a:srgbClr val="FFE082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и </a:t>
            </a:r>
            <a:r>
              <a:rPr sz="1800" b="1" i="0">
                <a:solidFill>
                  <a:srgbClr val="FFE082"/>
                </a:solidFill>
                <a:latin typeface="Courier New"/>
              </a:rPr>
              <a:t>==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разные вещи.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E082"/>
                </a:solidFill>
                <a:latin typeface="Courier New"/>
              </a:rPr>
              <a:t>count = 5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положить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5 в коробку.   </a:t>
            </a:r>
            <a:r>
              <a:rPr sz="1800" b="1" i="0">
                <a:solidFill>
                  <a:srgbClr val="FFE082"/>
                </a:solidFill>
                <a:latin typeface="Courier New"/>
              </a:rPr>
              <a:t>count == 5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спросить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в коробке 5?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Монитор порта: рентген для кода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2339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INPUT_PULLUP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begin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9600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открываем связь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button =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(button);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печатаем 1 или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test_button.ino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Serial.begin(9600)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Открывает канал связи. Пишем один раз в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Serial.println(…)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Печатает число или текст и переходит на новую строку.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Где смотреть?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 Cirkit — внизу, в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Simulation Console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Зачем?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Видно, что «думает» плата. Это главный инструмент поиска ошибок.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светофор с кнопкой для пешехода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Машинам всё время горит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зелёный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Пешеход нажимает кнопку →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жёлтый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на 2 секунды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Затем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красный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на 5 секунд, баззер пищит каждые полсекунды — сигнал для незрячих пешеходов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Снова зелёный. В мониторе порта — сообщение «Пешеход нажал кнопку»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Зелёный горит без нажатия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Кнопка запускает цикл жёлтый → красный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Слышен писк во время красного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Сообщение в Simulation Console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Добавьте пешеходный светофор: 2 светодиода (красный и зелёный для пешехода), которые горят «наоборот» машинному.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светофор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187952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Красный LED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+ анод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99904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35896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35896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Жёлтый LED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+ анод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311968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247960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247960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11226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Зелёный LED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+ анод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824032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760024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760024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62432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3639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Каждый LED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− через 220 Ом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336096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27208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27208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13639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48456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вывод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848160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784152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784152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648456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вывод 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360224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29621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29621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416052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7258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00897B"/>
                </a:solidFill>
                <a:latin typeface="Courier New"/>
              </a:rPr>
              <a:t>+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872288"/>
            <a:ext cx="2103120" cy="0"/>
          </a:xfrm>
          <a:prstGeom prst="line">
            <a:avLst/>
          </a:prstGeom>
          <a:ln w="381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808280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808280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67258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8464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−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384352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32034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32034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518464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Arduino UNO +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Half Breadboard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Синюю линию макетки соедините с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GND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это общая шина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Три светодиода: короткая ножка → резистор → шина GND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Длинные ножки → D10, D11, D12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Кнопка: один вывод в D2, другой в шину GND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Баззер (Piezo): «+» в D8, «−» в шину GND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светофора: настройка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4531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redPin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yellowPin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11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greenPin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buttonPin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buzzerPin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(redPin,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(yellowPin,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(greenPin,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(buttonPin,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INPUT_PULLUP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begin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9600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"Светофор запущен"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svetofor.ino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Переменные-коробочки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Номера пинов храним в переменных — как на занятии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INPUT_PULLUP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 без внешнего резистора.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Открываем монитор порта и здороваемся.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светофора: главный цикл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817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(greenPin,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(buttonPin) ==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Serial.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"Пешеход нажал кнопку"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(greenPin,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(yellowPin,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(yellowPin,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(redPin,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i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 i &lt;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500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(redPin,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svetofor.ino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==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Кнопку нажали — пин соединился с GND.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for 10 раз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10 писков по 0,5 с = 5 секунд красного.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tone(пин, 1000, 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Третье число — длительность писка в мс.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3037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Кнопка ничего не делает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Проверьте: второй вывод кнопки идёт в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GND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а в коде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INPUT_PULLUP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== LOW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6078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62341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47518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Светофор переключается сам, без кнопки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638958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547518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Забыли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INPUT_PULLUP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— пин «висит в воздухе» и ловит помехи.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9116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3616452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40556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Светодиод не горит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3631996"/>
            <a:ext cx="0" cy="46268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540556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Перевёрнут (длинная ножка — к пину) или деталь не из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Simulation Parts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42155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60949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33595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Красная ошибка после Verify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4625035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4533595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Ищем строку из Verification Output: пропущенная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;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или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}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=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вместо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==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35193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77240" y="560252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26633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Play не запускается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06440" y="5618073"/>
            <a:ext cx="0" cy="46268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5526633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Сначала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Verify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без ошибок. Проверьте, что выбрана плата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Arduino UNO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Переехали в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Cirkit Designer</a:t>
            </a:r>
            <a:r>
              <a:rPr sz="1800" b="0" i="0">
                <a:solidFill>
                  <a:srgbClr val="1D1D1D"/>
                </a:solidFill>
                <a:latin typeface="Arial"/>
              </a:rPr>
              <a:t>: Design → Code → Simulate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Подключили кнопку без резистора через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INPUT_PULLUP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Разобрались: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кладёт,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==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спрашивает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Научились смотреть в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монитор порта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Запустили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светофор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 кнопкой и звуком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Свои команды: функции и электронный кубик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37947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Параметры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794760"/>
            <a:ext cx="104241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return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0696" y="3794760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random()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61688"/>
            <a:ext cx="159105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7 сегментов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5" y="4361688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Кубик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Что такое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функция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зачем она нужна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создать свою команду: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void имя() { … }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передать функции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параметр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функция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возвращает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ответ: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return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устроен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7-сегментный индикатор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Перепишете SOS в 4 строчки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электронный игральный кубик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кнопка → анимация → случайное число от 1 до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Проблема: код повторяется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4777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A9955"/>
                </a:solidFill>
                <a:latin typeface="Courier New"/>
              </a:rPr>
              <a:t>// буква S — три точки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A9955"/>
                </a:solidFill>
                <a:latin typeface="Courier New"/>
              </a:rPr>
              <a:t>// буква O — три тире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600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A9955"/>
                </a:solidFill>
                <a:latin typeface="Courier New"/>
              </a:rPr>
              <a:t>// ... и ещё 12 строк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sos_old.ino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Много одинакового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SOS из занятия 2 занимал 30+ строк.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Легко ошибиться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Пропустил одну строку — и сигнал сломан.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Трудно читать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Где тут буква S, а где 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Дать куску кода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имя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 вызывать его по имени.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Функция — это рецепт с названием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Функция — кусок кода, у которого есть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имя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Написали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один раз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вызываем сколько угодно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void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функция просто делает дело и ничего не отвечает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Функции пишем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вне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loop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обычно над ними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Вызов: имя и скобки —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dot();</a:t>
            </a:r>
          </a:p>
        </p:txBody>
      </p:sp>
      <p:sp>
        <p:nvSpPr>
          <p:cNvPr id="5" name="Код"/>
          <p:cNvSpPr/>
          <p:nvPr/>
        </p:nvSpPr>
        <p:spPr>
          <a:xfrm>
            <a:off x="6217920" y="146304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dot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402336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ничего не возвращает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57200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57200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имя — придумываем сами, латиницей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12064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{ …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120640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D1D1D"/>
                </a:solidFill>
                <a:latin typeface="Arial"/>
              </a:rPr>
              <a:t>тело — что делать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SOS через функции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817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dot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dash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600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letterS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dot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dot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dot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letterO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dash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dash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dash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letterS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letterO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letterS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sos_functions.ino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dot и dash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Точка и тире — наши «кирпичики».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letterS и letterO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Функции могут вызывать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другие функции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Читается как текст: S, O, S, пауза.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Функция с параметром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4531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blinkTimes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i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i &lt; n;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300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300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blinkTimes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мигнуть 3 раза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blinkTimes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мигнуть 5 раз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params.ino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int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Параметр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коробочка, которую функция получает при вызове.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blinkTimes(3)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Внутри функции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n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станет равным 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Как кофемашина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 одна, а сколько сахара — решаешь при нажатии.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Функция, которая отвечает: return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299008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rollDice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random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от 1 до 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result =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rollDice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(result);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dice_serial.ino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int вместо void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Функция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вернёт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целое число.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«Вот ответ!» — функция отдаёт число и заканчивается.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random(1, 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Случайное число от 1 до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6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верхняя граница не входит!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Где уже видели?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analogRead(A0)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digitalRead(2)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тоже возвращают ответ.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Знакомьтесь: 7-сегментный индикатор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Это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7 светодиодов-палочек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в одном корпусе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Каждый сегмент назван буквой: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a, b, c, d, e, f, g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Зажигая разные сегменты, рисуем любую цифру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Общий вывод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COM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общий катод → GND, общий анод → 5V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Такие индикаторы — в часах, микроволновках, лифтах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14516" y="1842516"/>
            <a:ext cx="2363724" cy="3570732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018020" y="2194560"/>
            <a:ext cx="1106424" cy="241401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34071" y="1862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4560" y="2395728"/>
            <a:ext cx="241401" cy="1106424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26196" y="28117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4560" y="3723436"/>
            <a:ext cx="241401" cy="110642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26196" y="4139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8020" y="4829860"/>
            <a:ext cx="1106424" cy="241401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34071" y="5081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3723436"/>
            <a:ext cx="241401" cy="1106424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4691" y="4139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2395728"/>
            <a:ext cx="241401" cy="1106424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44691" y="28117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8020" y="3512210"/>
            <a:ext cx="1106424" cy="241401"/>
          </a:xfrm>
          <a:prstGeom prst="roundRect">
            <a:avLst>
              <a:gd name="adj" fmla="val 50000"/>
            </a:avLst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34071" y="318028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BDBDBD"/>
                </a:solidFill>
                <a:latin typeface="Arial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42316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Цифра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2</a:t>
            </a:r>
            <a:r>
              <a:rPr sz="1800" b="0" i="0">
                <a:solidFill>
                  <a:srgbClr val="1D1D1D"/>
                </a:solidFill>
                <a:latin typeface="Arial"/>
              </a:rPr>
              <a:t>: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горят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a, b, g, e, 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800" b="0" i="0">
                <a:solidFill>
                  <a:srgbClr val="1D1D1D"/>
                </a:solidFill>
                <a:latin typeface="Arial"/>
              </a:rPr>
              <a:t>не горят: c, 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Таблица цифр: массив массивов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Для каждой цифры храним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7 нулей и единиц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1 — сегмент горит, 0 — не горит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Это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двумерный массив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строки — цифры, столбцы — сегменты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digits[2][0]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цифра 2, сегмент a →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Как в «Морском бое»: строка + столбец = клетка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0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24927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1856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784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9567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6496" y="19202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E30D3"/>
                </a:solidFill>
                <a:latin typeface="Courier New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Courier New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567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6496" y="23317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Courier New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9567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6496" y="27889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3209544"/>
            <a:ext cx="4626864" cy="438912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 w="1905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0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E37400"/>
                </a:solidFill>
                <a:latin typeface="Courier New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91856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7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6496" y="32461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Courier New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4927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1856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2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59567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9E9E9E"/>
                </a:solidFill>
                <a:latin typeface="Courier New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6496" y="370332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D93025"/>
                </a:solidFill>
                <a:latin typeface="Courier New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206240"/>
            <a:ext cx="45354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5A6270"/>
                </a:solidFill>
                <a:latin typeface="Arial"/>
              </a:rPr>
              <a:t>…и так до 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кубик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846320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85640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21632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21632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261128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197120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197120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075688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736616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672608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672608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551176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26664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212104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148096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148096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026664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02152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00897B"/>
                </a:solidFill>
                <a:latin typeface="Courier New"/>
              </a:rPr>
              <a:t>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687592"/>
            <a:ext cx="2103120" cy="0"/>
          </a:xfrm>
          <a:prstGeom prst="line">
            <a:avLst/>
          </a:prstGeom>
          <a:ln w="381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623584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623584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502152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D81B60"/>
                </a:solidFill>
                <a:latin typeface="Courier New"/>
              </a:rPr>
              <a:t>f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163080"/>
            <a:ext cx="2103120" cy="0"/>
          </a:xfrm>
          <a:prstGeom prst="line">
            <a:avLst/>
          </a:prstGeom>
          <a:ln w="38100">
            <a:solidFill>
              <a:srgbClr val="D81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099072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099072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3977639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453128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6D4C41"/>
                </a:solidFill>
                <a:latin typeface="Courier New"/>
              </a:rPr>
              <a:t>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638568"/>
            <a:ext cx="2103120" cy="0"/>
          </a:xfrm>
          <a:prstGeom prst="line">
            <a:avLst/>
          </a:prstGeom>
          <a:ln w="38100">
            <a:solidFill>
              <a:srgbClr val="6D4C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574560"/>
            <a:ext cx="128016" cy="128016"/>
          </a:xfrm>
          <a:prstGeom prst="ellipse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574560"/>
            <a:ext cx="128016" cy="128016"/>
          </a:xfrm>
          <a:prstGeom prst="ellipse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453128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28616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Индикатор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COM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114056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05004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05004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4928616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404104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3949AB"/>
                </a:solidFill>
                <a:latin typeface="Courier New"/>
              </a:rPr>
              <a:t>вывод 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86200" y="5589544"/>
            <a:ext cx="2103120" cy="0"/>
          </a:xfrm>
          <a:prstGeom prst="line">
            <a:avLst/>
          </a:prstGeom>
          <a:ln w="38100">
            <a:solidFill>
              <a:srgbClr val="3949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22191" y="5525536"/>
            <a:ext cx="128016" cy="128016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25312" y="5525536"/>
            <a:ext cx="128016" cy="128016"/>
          </a:xfrm>
          <a:prstGeom prst="ellipse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5404104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79592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вывод 2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886200" y="6065032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822191" y="600102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25312" y="600102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8" y="5879592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Найдите в Simulation Parts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Seven Segment Display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Наведите на выводы — Cirkit подскажет их имена (a…g, COM)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Сегменты a…g → пины D4…D10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по порядку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COM → GND (если индикатор с общим анодом → 5V)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Кнопка: D2 и GND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Точку (DP) не подключаем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кубика: функции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7315200" cy="427024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segPins[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] =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6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9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ON = </a:t>
            </a:r>
            <a:r>
              <a:rPr sz="12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;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общий анод? -&gt; LOW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const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OFF = </a:t>
            </a:r>
            <a:r>
              <a:rPr sz="12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;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общий анод? -&gt; HIGH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digits[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][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0,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2,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4,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6,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}   </a:t>
            </a:r>
            <a:r>
              <a:rPr sz="1200" b="0" i="0">
                <a:solidFill>
                  <a:srgbClr val="6A9955"/>
                </a:solidFill>
                <a:latin typeface="Courier New"/>
              </a:rPr>
              <a:t>// 8, 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CDCAA"/>
                </a:solidFill>
                <a:latin typeface="Courier New"/>
              </a:rPr>
              <a:t>showDigit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n)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2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s =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; s &lt;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; s++)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(digits[n][s] ==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) </a:t>
            </a:r>
            <a:r>
              <a:rPr sz="12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(segPins[s], ON);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2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(segPins[s], OFF);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CDCAA"/>
                </a:solidFill>
                <a:latin typeface="Courier New"/>
              </a:rPr>
              <a:t>rollDice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() { </a:t>
            </a:r>
            <a:r>
              <a:rPr sz="12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DCDCAA"/>
                </a:solidFill>
                <a:latin typeface="Courier New"/>
              </a:rPr>
              <a:t>random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);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kubik.ino</a:t>
            </a:r>
          </a:p>
        </p:txBody>
      </p:sp>
      <p:sp>
        <p:nvSpPr>
          <p:cNvPr id="5" name="Oval 4"/>
          <p:cNvSpPr/>
          <p:nvPr/>
        </p:nvSpPr>
        <p:spPr>
          <a:xfrm>
            <a:off x="699515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5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5235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520439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0275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62763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const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048256"/>
            <a:ext cx="2697479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Константа — коробочка, которую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нельзя менять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139440"/>
            <a:ext cx="3520439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0275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30403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showDigit(n)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724656"/>
            <a:ext cx="2697479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Функция с параметром: рисует цифру 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815840"/>
            <a:ext cx="3520439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0275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980432"/>
            <a:ext cx="269747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rollDice()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401056"/>
            <a:ext cx="2697479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Функция-ответчик: возвращает 1…6.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кубика: setup и loop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849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s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s &lt;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s++)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(segPins[s],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OUTPUT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INPUT_PULLUP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randomSeed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analogRead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A0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showDigit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==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i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i &lt;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i++) {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кубик катится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showDigit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rollDice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80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showDigit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rollDice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());         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итог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300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kubik.ino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for в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Настраиваем 7 пинов одним циклом.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randomSeed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«Перемешивает колоду», чтобы числа не повторялись при каждом запуске.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Анимация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10 быстрых случайных цифр — эффект катящегося кубика.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электронный кубик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Соберите индикатор и кнопку по карте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Проверьте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showDigit</a:t>
            </a:r>
            <a:r>
              <a:rPr sz="1900" b="0" i="0">
                <a:solidFill>
                  <a:srgbClr val="FFFFFF"/>
                </a:solidFill>
                <a:latin typeface="Arial"/>
              </a:rPr>
              <a:t>: в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setup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покажите по очереди 0…9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Напишите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rollDice()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и анимацию в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loop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Бросьте кубик 10 раз — проверьте, что выпадают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все числа 1–6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Цифры рисуются правильно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Кнопка запускает анимацию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Итог — от 1 до 6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В коде есть свои функции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Кубик для «Монополии»: две кнопки — одна бросает кубик 1–6, другая — «счастливая» 1–9. Или: после броска баззер пищит столько раз, сколько выпало.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5450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Цифры «наоборот»: горит всё, кроме нужного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Индикатор с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общим анодом</a:t>
            </a:r>
            <a:r>
              <a:rPr sz="1500" b="0" i="0">
                <a:solidFill>
                  <a:srgbClr val="1D1D1D"/>
                </a:solidFill>
                <a:latin typeface="Arial"/>
              </a:rPr>
              <a:t>: COM → 5V, а в коде поменяйте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ON = LOW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OFF = HIGH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4338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99580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5778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Цифры похожи на иероглифы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887218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95778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Перепутан порядок пинов: a → D4, b → D5 … g → D10. Проверьте по карте.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5635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23710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7075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Всегда выпадает одно и то же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28515"/>
            <a:ext cx="0" cy="71094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4037075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Нет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randomSeed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или анимация не вызывается — проверьте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6933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47839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78373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Ошибка: 'showDigit' was not declared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5369814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278373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Опечатка в имени функции: большие и маленькие буквы различаются!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Узнали, что такое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функция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зачем она нужна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Научились передавать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параметры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возвращать ответ через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return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Разобрали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двумерный массив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— таблицу цифр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электронный кубик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на 7-сегментном индикаторе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Робот заговорил: экран LCD 16×2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LCD 16×2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1271" y="379476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I2C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51392" y="379476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Библиотеки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6168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setCursor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361688"/>
            <a:ext cx="202996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Счётчик нажатий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устроен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экран LCD 16×2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Что такое шина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I2C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чем она удобнее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подключить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библиотеку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в Cirkit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поставить курсор и напечатать текст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поймать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момент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нажатия кнопки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табло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счётчик нажатий кнопки и шкалу-индикатор от потенциометра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Знакомьтесь: экран LCD 16×2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16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символов в строке ×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2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строки = 32 клетки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Каждая клетка — маленькая сетка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5×8 точек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Модуль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I2C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на обратной стороне: всего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4 провода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Подсветку можно включать и выключать из кода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Такие экраны — в кассах, принтерах, 3D-принтерах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399" y="2377440"/>
            <a:ext cx="4800600" cy="1728216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69429" y="2619390"/>
            <a:ext cx="4320540" cy="1244315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13447" y="2757647"/>
            <a:ext cx="4032504" cy="967800"/>
          </a:xfrm>
          <a:prstGeom prst="roundRect">
            <a:avLst>
              <a:gd name="adj" fmla="val 2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09459" y="2757647"/>
            <a:ext cx="3936492" cy="96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B3A1B"/>
                </a:solidFill>
                <a:latin typeface="Courier New"/>
              </a:rPr>
              <a:t>Hello, robot! 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B3A1B"/>
                </a:solidFill>
                <a:latin typeface="Courier New"/>
              </a:rPr>
              <a:t>Count: 7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67023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GND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65392" y="2779958"/>
            <a:ext cx="64007" cy="0"/>
          </a:xfrm>
          <a:prstGeom prst="line">
            <a:avLst/>
          </a:prstGeom>
          <a:ln w="317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59" y="298130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VCC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65392" y="3091037"/>
            <a:ext cx="64007" cy="0"/>
          </a:xfrm>
          <a:prstGeom prst="line">
            <a:avLst/>
          </a:prstGeom>
          <a:ln w="3175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80759" y="329238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65392" y="3402116"/>
            <a:ext cx="64007" cy="0"/>
          </a:xfrm>
          <a:prstGeom prst="line">
            <a:avLst/>
          </a:prstGeom>
          <a:ln w="317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80759" y="3603467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SCL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65392" y="3713195"/>
            <a:ext cx="64007" cy="0"/>
          </a:xfrm>
          <a:prstGeom prst="line">
            <a:avLst/>
          </a:prstGeom>
          <a:ln w="317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Шина I2C: 4 провода вместо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0C0C0C"/>
                </a:solidFill>
                <a:latin typeface="Arial"/>
              </a:rPr>
              <a:t>SPI (занятие 7, RFID)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Отдельные провода: MOSI, MISO, SCK, SS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Очень быстрая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Каждому устройству — свой провод SS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7 проводов для сканера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I2C (сегодня, экран)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Всего 2 сигнальных провода: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1" i="0">
                <a:solidFill>
                  <a:srgbClr val="FFFFFF"/>
                </a:solidFill>
                <a:latin typeface="Arial"/>
              </a:rPr>
              <a:t>SDA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данные (на Uno это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A4</a:t>
            </a:r>
            <a:r>
              <a:rPr sz="1800" b="0" i="0">
                <a:solidFill>
                  <a:srgbClr val="FFFFFF"/>
                </a:solidFill>
                <a:latin typeface="Arial"/>
              </a:rPr>
              <a:t>)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1" i="0">
                <a:solidFill>
                  <a:srgbClr val="FFFFFF"/>
                </a:solidFill>
                <a:latin typeface="Arial"/>
              </a:rPr>
              <a:t>SCL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метроном (на Uno это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A5</a:t>
            </a:r>
            <a:r>
              <a:rPr sz="1800" b="0" i="0">
                <a:solidFill>
                  <a:srgbClr val="FFFFFF"/>
                </a:solidFill>
                <a:latin typeface="Arial"/>
              </a:rPr>
              <a:t>)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У каждого устройства свой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адрес</a:t>
            </a:r>
            <a:r>
              <a:rPr sz="1800" b="0" i="0">
                <a:solidFill>
                  <a:srgbClr val="FFFFFF"/>
                </a:solidFill>
                <a:latin typeface="Arial"/>
              </a:rPr>
              <a:t>, например </a:t>
            </a:r>
            <a:r>
              <a:rPr sz="1800" b="1" i="0">
                <a:solidFill>
                  <a:srgbClr val="FFE082"/>
                </a:solidFill>
                <a:latin typeface="Courier New"/>
              </a:rPr>
              <a:t>0x27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Можно повесить много устройств на одни провода</a:t>
            </a:r>
          </a:p>
        </p:txBody>
      </p:sp>
      <p:sp>
        <p:nvSpPr>
          <p:cNvPr id="9" name="Oval 8"/>
          <p:cNvSpPr/>
          <p:nvPr/>
        </p:nvSpPr>
        <p:spPr>
          <a:xfrm>
            <a:off x="5692140" y="34518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Подключаем библиотеку в Cirkit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Откройте вкладку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054096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Слева нажмите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Libraries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330952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Поиск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Введите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LiquidCrystal I2C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07808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Include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У библиотеки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LiquidCrystal I2C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(Marco Schwartz) нажмите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Include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56064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884664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Проверка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 начале скетча появится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жмём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Verify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11109960" cy="109727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1097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Библиотека = готовый словарь команд. Подключили один раз — и плата понимает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lcd.print()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lcd.setCursor()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другие слова.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Главные команды экрана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lcd.init();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разбудить экран (в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700" b="0" i="0">
                <a:solidFill>
                  <a:srgbClr val="1D1D1D"/>
                </a:solidFill>
                <a:latin typeface="Arial"/>
              </a:rPr>
              <a:t>)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lcd.backlight();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включить подсветку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lcd.setCursor(5, 1);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столбец 5, строка 1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lcd.print("Hi");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напечатать текст или число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lcd.clear();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стереть всё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Счёт снова с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нуля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столбцы 0…15, строки 0…1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949440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226617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503794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80972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058150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35327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612505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889682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166859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444037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21215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998392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0275569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0552747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829925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1107102" y="2468880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949440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226617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503794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80972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058150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335327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35327" y="2884646"/>
            <a:ext cx="249459" cy="388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B3A1B"/>
                </a:solidFill>
                <a:latin typeface="Courier New"/>
              </a:rPr>
              <a:t>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2505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12505" y="2884646"/>
            <a:ext cx="249459" cy="388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B3A1B"/>
                </a:solidFill>
                <a:latin typeface="Courier New"/>
              </a:rP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9682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166859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444037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9721215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9998392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10275569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10552747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0829925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11107102" y="2884646"/>
            <a:ext cx="249459" cy="388048"/>
          </a:xfrm>
          <a:prstGeom prst="roundRect">
            <a:avLst>
              <a:gd name="adj" fmla="val 8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949440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6617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3794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0972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58150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5327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2505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9682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6859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4037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1215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8392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75569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52747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9925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7102" y="2176272"/>
            <a:ext cx="2494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 i="0">
                <a:solidFill>
                  <a:srgbClr val="5A6270"/>
                </a:solidFill>
                <a:latin typeface="Courier New"/>
              </a:rPr>
              <a:t>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2468880"/>
            <a:ext cx="411480" cy="388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5A6270"/>
                </a:solidFill>
                <a:latin typeface="Courier New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2884646"/>
            <a:ext cx="411480" cy="388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5A6270"/>
                </a:solidFill>
                <a:latin typeface="Courier New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1901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Arial"/>
              </a:rPr>
              <a:t>столбец 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32813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Arial"/>
              </a:rPr>
              <a:t>↑ строка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4206240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setCursor(5, 1)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+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print("Hi")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→ текст с 5-й клетки второй строки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Две ловушки экрана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178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59" y="1691640"/>
            <a:ext cx="502920" cy="5029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916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C0C0C"/>
                </a:solidFill>
                <a:latin typeface="Arial"/>
              </a:rPr>
              <a:t>Экран не знает русских букв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D1D1D"/>
                </a:solidFill>
                <a:latin typeface="Arial"/>
              </a:rPr>
              <a:t>Встроенный шрифт — только латиница и цифры. Пишем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"Privet"</a:t>
            </a:r>
            <a:r>
              <a:rPr sz="1600" b="0" i="0">
                <a:solidFill>
                  <a:srgbClr val="1D1D1D"/>
                </a:solidFill>
                <a:latin typeface="Arial"/>
              </a:rPr>
              <a:t>, а не «Привет».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977639"/>
            <a:ext cx="4023360" cy="1448409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664208" y="4180417"/>
            <a:ext cx="3621024" cy="1042854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784908" y="4296290"/>
            <a:ext cx="3379622" cy="811109"/>
          </a:xfrm>
          <a:prstGeom prst="roundRect">
            <a:avLst>
              <a:gd name="adj" fmla="val 2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865376" y="4296290"/>
            <a:ext cx="3299155" cy="8111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B3A1B"/>
                </a:solidFill>
                <a:latin typeface="Courier New"/>
              </a:rPr>
              <a:t>Privet, drug! 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B3A1B"/>
                </a:solidFill>
                <a:latin typeface="Courier New"/>
              </a:rPr>
              <a:t>Hello, robot!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20065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GND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99032" y="4329793"/>
            <a:ext cx="64008" cy="0"/>
          </a:xfrm>
          <a:prstGeom prst="line">
            <a:avLst/>
          </a:prstGeom>
          <a:ln w="317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48077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VCC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9032" y="4590507"/>
            <a:ext cx="64008" cy="0"/>
          </a:xfrm>
          <a:prstGeom prst="line">
            <a:avLst/>
          </a:prstGeom>
          <a:ln w="3175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741493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9032" y="4851221"/>
            <a:ext cx="64008" cy="0"/>
          </a:xfrm>
          <a:prstGeom prst="line">
            <a:avLst/>
          </a:prstGeom>
          <a:ln w="317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500220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SCL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99032" y="5111934"/>
            <a:ext cx="64008" cy="0"/>
          </a:xfrm>
          <a:prstGeom prst="line">
            <a:avLst/>
          </a:prstGeom>
          <a:ln w="317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40779" y="1463040"/>
            <a:ext cx="54178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15099" y="1691640"/>
            <a:ext cx="502920" cy="502920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899" y="16916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0C0C0C"/>
                </a:solidFill>
                <a:latin typeface="Arial"/>
              </a:rPr>
              <a:t>Старые символы не стираются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099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1D1D1D"/>
                </a:solidFill>
                <a:latin typeface="Arial"/>
              </a:rPr>
              <a:t>Было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100</a:t>
            </a:r>
            <a:r>
              <a:rPr sz="1600" b="0" i="0">
                <a:solidFill>
                  <a:srgbClr val="1D1D1D"/>
                </a:solidFill>
                <a:latin typeface="Arial"/>
              </a:rPr>
              <a:t>, стало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99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на экране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990</a:t>
            </a:r>
            <a:r>
              <a:rPr sz="1600" b="0" i="0">
                <a:solidFill>
                  <a:srgbClr val="1D1D1D"/>
                </a:solidFill>
                <a:latin typeface="Arial"/>
              </a:rPr>
              <a:t>. Лечится пробелами после числа: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099" y="32461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88038"/>
                </a:solidFill>
                <a:latin typeface="Courier New"/>
              </a:rPr>
              <a:t>lcd.print(count); lcd.print("  ");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179" y="3977639"/>
            <a:ext cx="4023360" cy="1448409"/>
          </a:xfrm>
          <a:prstGeom prst="roundRect">
            <a:avLst>
              <a:gd name="adj" fmla="val 5000"/>
            </a:avLst>
          </a:prstGeom>
          <a:solidFill>
            <a:srgbClr val="1565C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356348" y="4180417"/>
            <a:ext cx="3621024" cy="1042854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477048" y="4296290"/>
            <a:ext cx="3379622" cy="811109"/>
          </a:xfrm>
          <a:prstGeom prst="roundRect">
            <a:avLst>
              <a:gd name="adj" fmla="val 2000"/>
            </a:avLst>
          </a:prstGeom>
          <a:solidFill>
            <a:srgbClr val="9CCC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7515" y="4296290"/>
            <a:ext cx="3299155" cy="8111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B3A1B"/>
                </a:solidFill>
                <a:latin typeface="Courier New"/>
              </a:rPr>
              <a:t>Count: 990  :( 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B3A1B"/>
                </a:solidFill>
                <a:latin typeface="Courier New"/>
              </a:rPr>
              <a:t>Count: 99    :)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6540" y="4220065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GND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91171" y="4329793"/>
            <a:ext cx="64008" cy="0"/>
          </a:xfrm>
          <a:prstGeom prst="line">
            <a:avLst/>
          </a:prstGeom>
          <a:ln w="3175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06540" y="448077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VCC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91171" y="4590507"/>
            <a:ext cx="64008" cy="0"/>
          </a:xfrm>
          <a:prstGeom prst="line">
            <a:avLst/>
          </a:prstGeom>
          <a:ln w="3175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06540" y="4741493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SDA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91171" y="4851221"/>
            <a:ext cx="64008" cy="0"/>
          </a:xfrm>
          <a:prstGeom prst="line">
            <a:avLst/>
          </a:prstGeom>
          <a:ln w="3175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06540" y="500220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 i="0">
                <a:solidFill>
                  <a:srgbClr val="5A6270"/>
                </a:solidFill>
                <a:latin typeface="Courier New"/>
              </a:rPr>
              <a:t>SCL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1171" y="5111934"/>
            <a:ext cx="64008" cy="0"/>
          </a:xfrm>
          <a:prstGeom prst="line">
            <a:avLst/>
          </a:prstGeom>
          <a:ln w="317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Ловим момент нажатия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loop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крутится тысячи раз в секунду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Пока палец на кнопке,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digitalRead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много раз подряд даёт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LOW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Если считать каждый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LOW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одно нажатие =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сотни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очков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Решение: помнить, какой кнопка была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в прошлый раз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lastButton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Считаем, только когда было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HIGH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а стало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9" y="1463040"/>
            <a:ext cx="57150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291071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63639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6060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88628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1049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13617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66037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38605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1026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63594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6014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88582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41003" y="2560320"/>
            <a:ext cx="670124" cy="548640"/>
          </a:xfrm>
          <a:prstGeom prst="roundRect">
            <a:avLst>
              <a:gd name="adj" fmla="val 15000"/>
            </a:avLst>
          </a:prstGeom>
          <a:solidFill>
            <a:srgbClr val="18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13571" y="2560320"/>
            <a:ext cx="72498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ourier New"/>
              </a:rPr>
              <a:t>HIGH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13617" y="2331720"/>
            <a:ext cx="0" cy="1005840"/>
          </a:xfrm>
          <a:prstGeom prst="line">
            <a:avLst/>
          </a:prstGeom>
          <a:ln w="38100">
            <a:solidFill>
              <a:srgbClr val="E37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50577" y="338327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37400"/>
                </a:solidFill>
                <a:latin typeface="Arial"/>
              </a:rPr>
              <a:t>count + 1 только здесь!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39" y="20574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Arial"/>
              </a:rPr>
              <a:t>время →</a:t>
            </a:r>
          </a:p>
        </p:txBody>
      </p:sp>
      <p:sp>
        <p:nvSpPr>
          <p:cNvPr id="23" name="Код"/>
          <p:cNvSpPr/>
          <p:nvPr/>
        </p:nvSpPr>
        <p:spPr>
          <a:xfrm>
            <a:off x="6263639" y="4206240"/>
            <a:ext cx="5074920" cy="15087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(button == </a:t>
            </a:r>
            <a:r>
              <a:rPr sz="12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 &amp;&amp; lastButton == </a:t>
            </a:r>
            <a:r>
              <a:rPr sz="12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  count = count + </a:t>
            </a:r>
            <a:r>
              <a:rPr sz="12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2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urier New"/>
              </a:rPr>
              <a:t>lastButton = button;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табло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700016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GND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99904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3589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3589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VCC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311968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24796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24796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11226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SDA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824032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760024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760024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62432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3639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SCL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336096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272088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272088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13639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48456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Потенциометр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край 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848160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784152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784152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648456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Потенциометр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середина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360224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296216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296216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416052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7258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Потенциометр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край 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872288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808280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808280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67258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8464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вывод 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384352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518464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69671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вывод 2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86200" y="5896416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22191" y="583240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25312" y="583240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569671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Найдите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16x2 I2C LCD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в Simulation Parts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SDA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A4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SCL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A5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(только эти пины!)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Потенциометр (Trimmer Potentiometer): края — 5V и GND, середина — A0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 — D2 и GND (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INPUT_PULLUP</a:t>
            </a:r>
            <a:r>
              <a:rPr sz="1400" b="0" i="0">
                <a:solidFill>
                  <a:srgbClr val="1D1D1D"/>
                </a:solidFill>
                <a:latin typeface="Arial"/>
              </a:rPr>
              <a:t>)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5V и GND удобно вывести на шину макетки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табло: подготовка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3600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&lt;Wire.h&gt;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&lt;LiquidCrystal_I2C.h&gt;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LiquidCrystal_I2C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lcd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x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27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16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buttonPin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count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lastButton =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(buttonPin,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INPUT_PULLUP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init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backlight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"Hello, robot!"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clear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tablo.ino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#include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Подключаем словари: Wire (I2C) и экран.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lcd(0x27, 16,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Создаём экран: адрес 0x27, 16 символов, 2 строки.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lastButton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Память кнопки: в начале она не нажата (HIGH).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Приветствие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Через секунду экран очищается — начинаем работу.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табло: главный цикл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7579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3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button = 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(buttonPin);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3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(button == </a:t>
            </a:r>
            <a:r>
              <a:rPr sz="13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&amp;&amp; lastButton == </a:t>
            </a:r>
            <a:r>
              <a:rPr sz="13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  count = count +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lastButton = button;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3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bar = 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map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analogRead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4FC1FF"/>
                </a:solidFill>
                <a:latin typeface="Courier New"/>
              </a:rPr>
              <a:t>A0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1023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16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CE9178"/>
                </a:solidFill>
                <a:latin typeface="Courier New"/>
              </a:rPr>
              <a:t>"Count: "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(count);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3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3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i =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; i &lt; 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16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(i &lt; bar)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CE9178"/>
                </a:solidFill>
                <a:latin typeface="Courier New"/>
              </a:rPr>
              <a:t>"#"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3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 lcd.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CE9178"/>
                </a:solidFill>
                <a:latin typeface="Courier New"/>
              </a:rPr>
              <a:t>" "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3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B5CEA8"/>
                </a:solidFill>
                <a:latin typeface="Courier New"/>
              </a:rPr>
              <a:t>50</a:t>
            </a:r>
            <a:r>
              <a:rPr sz="13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tablo.ino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&amp;&amp;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И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оба условия сразу (занятие 8).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map → 0…16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Ручка 0…1023 превращается в число клеток.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for на 16 клеток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Закрашиваем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#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или ставим пробел — так стираются старые символы.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табло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Соберите экран, кнопку и потенциометр по карте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Выведите приветствие — проверьте, что экран работает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Сделайте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счётчик</a:t>
            </a:r>
            <a:r>
              <a:rPr sz="1900" b="0" i="0">
                <a:solidFill>
                  <a:srgbClr val="FFFFFF"/>
                </a:solidFill>
                <a:latin typeface="Arial"/>
              </a:rPr>
              <a:t>: одно нажатие = +1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Сделайте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шкалу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во второй строке от потенциометра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Экран показывает текст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Счётчик растёт на 1 за нажатие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Шкала растёт и уменьшается без «хвостов»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Вместо шкалы — слово: LOW, MID или HIGH в зависимости от ручки. Или вторая кнопка, которая сбрасывает счётчик в 0.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3037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Экран пустой, хотя подсветка горит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Неверный адрес. Попробуйте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0x3F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вместо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0x27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(адрес видно в свойствах детали).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6078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62341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47518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Ошибка: 'class LiquidCrystal_I2C' has no member 'init'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638958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547518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Подключена другая библиотека. Нужна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LiquidCrystal I2C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(Marco Schwartz) или замените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init()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на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begin()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9116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3616452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40556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Вместо букв — кракозябры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3631996"/>
            <a:ext cx="0" cy="46268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3540556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На экране только латиница. Никаких русских букв в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lcd.print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42155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60949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33595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Счётчик прыгает на 10–100 за нажатие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4625035"/>
            <a:ext cx="0" cy="462686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4533595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Нет проверки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lastButton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— считаете каждый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а не момент нажатия.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35193"/>
            <a:ext cx="11109960" cy="82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77240" y="560252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526633"/>
            <a:ext cx="420624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Цифры «растут хвостом»: 990 вместо 99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06440" y="5618073"/>
            <a:ext cx="0" cy="46268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5526633"/>
            <a:ext cx="5440680" cy="6455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Допечатайте пробелы после числа: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lcd.print("  ");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Подключили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экран LCD 16×2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по шине I2C — 4 провода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Научились подключать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библиотеки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в Cirkit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Освоили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setCursor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print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clear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Поймали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момент нажатия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через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lastButton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табло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со счётчиком и шкалой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Метеостанция: датчик температуры и влажности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DHT22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2088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float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31936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else 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isnan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61688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||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4361688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RGB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работает датчик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DHT22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Что такое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дробные числа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— тип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float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проверить, что датчик ответил: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isnan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Лестница решений: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if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/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else if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/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else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спрятать RGB в функцию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setColor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метеостанцию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температура и влажность на экране, RGB-индикатор синий / зелёный / красный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Знакомьтесь: датчик DHT22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Измеряет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температуру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от −40 до +80 °C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влажность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воздуха: от 0 до 100 %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Отвечает по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одному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проводу DATA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Медленный: не чаще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раза в 2 секунды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Младший брат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DHT11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дешевле, но менее точный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39" y="1828800"/>
            <a:ext cx="1714500" cy="228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B0BEC5"/>
            </a:solidFill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720839" y="20574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52309" y="20574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83779" y="20574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715249" y="20574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720839" y="24003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052309" y="24003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383779" y="24003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15249" y="24003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720839" y="27432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052309" y="27432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383779" y="27432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715249" y="27432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720839" y="30861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052309" y="30861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383779" y="30861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715249" y="30861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720839" y="34290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052309" y="34290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7383779" y="34290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715249" y="3429000"/>
            <a:ext cx="228600" cy="205739"/>
          </a:xfrm>
          <a:prstGeom prst="roundRect">
            <a:avLst>
              <a:gd name="adj" fmla="val 20000"/>
            </a:avLst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>
            <a:off x="6743699" y="4114800"/>
            <a:ext cx="0" cy="62865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69379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VCC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3749" y="4114800"/>
            <a:ext cx="0" cy="62865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69429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43799" y="4114800"/>
            <a:ext cx="0" cy="628650"/>
          </a:xfrm>
          <a:prstGeom prst="line">
            <a:avLst/>
          </a:prstGeom>
          <a:ln w="381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69479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NC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43849" y="4114800"/>
            <a:ext cx="0" cy="62865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69529" y="48006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GND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39" y="514350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0C0C0C"/>
                </a:solidFill>
                <a:latin typeface="Arial"/>
              </a:rPr>
              <a:t>DHT22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1828800"/>
            <a:ext cx="29718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15400" y="2011680"/>
            <a:ext cx="251460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D1D1D"/>
                </a:solidFill>
                <a:latin typeface="Arial"/>
              </a:rPr>
              <a:t>Внутри: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термистор — сопротивление меняется от тепла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датчик влажности — плёнка впитывает влагу из воздуха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свой микрочип, который всё считает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Новый тип данных: float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0C0C0C"/>
                </a:solidFill>
                <a:latin typeface="Arial"/>
              </a:rPr>
              <a:t>int — целые числа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10, 500, −3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Подходит для номеров пинов, счётчиков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1" i="0">
                <a:solidFill>
                  <a:srgbClr val="188038"/>
                </a:solidFill>
                <a:latin typeface="Courier New"/>
              </a:rPr>
              <a:t>int t = 23.7;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→ в коробке будет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23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Дробная часть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отбрасывается</a:t>
            </a:r>
            <a:r>
              <a:rPr sz="1800" b="0" i="0">
                <a:solidFill>
                  <a:srgbClr val="1D1D1D"/>
                </a:solidFill>
                <a:latin typeface="Arial"/>
              </a:rPr>
              <a:t>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float — дробные числа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23.7, −0.5, 3.14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Подходит для температуры, расстояния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1" i="0">
                <a:solidFill>
                  <a:srgbClr val="FFE082"/>
                </a:solidFill>
                <a:latin typeface="Courier New"/>
              </a:rPr>
              <a:t>float t = 23.7;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→ в коробке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23.7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Дробь пишем через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точку</a:t>
            </a:r>
            <a:r>
              <a:rPr sz="1800" b="0" i="0">
                <a:solidFill>
                  <a:srgbClr val="FFFFFF"/>
                </a:solidFill>
                <a:latin typeface="Arial"/>
              </a:rPr>
              <a:t>, а не запятую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1" i="0">
                <a:solidFill>
                  <a:srgbClr val="FFE082"/>
                </a:solidFill>
                <a:latin typeface="Courier New"/>
              </a:rPr>
              <a:t>lcd.print(t, 1)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— 1 знак после точки</a:t>
            </a:r>
          </a:p>
        </p:txBody>
      </p:sp>
      <p:sp>
        <p:nvSpPr>
          <p:cNvPr id="9" name="Oval 8"/>
          <p:cNvSpPr/>
          <p:nvPr/>
        </p:nvSpPr>
        <p:spPr>
          <a:xfrm>
            <a:off x="5692140" y="34518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Библиотека DHT: читаем погоду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3600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&lt;DHT.h&gt;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DHT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dht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DHT22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 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пин 4, модель DHT22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dht.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begin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begin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9600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t = dht.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readTemperature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h = dht.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readHumidity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C,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(h);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Serial.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%"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dht_test.ino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Libraries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«DHT sensor library» (Adafruit)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DHT dht(4, DHT22)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Создаём датчик: на каком пине и какой модели.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readTemperature()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Функция-ответчик: возвращает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float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градусы.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delay(2000)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Датчик медленный: чаще 2 секунд спрашивать нельзя.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Если датчик молчит: isnan и ||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202996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isnan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(t) ||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isnan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(h))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"Sensor error!"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начать loop заново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isnan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D1D1D"/>
                </a:solidFill>
                <a:latin typeface="Arial"/>
              </a:rPr>
              <a:t>is NaN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— «это не число?». Датчик не ответил — вместо числа пустота.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||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D1D1D"/>
                </a:solidFill>
                <a:latin typeface="Arial"/>
              </a:rPr>
              <a:t>ИЛИ</a:t>
            </a:r>
            <a:r>
              <a:rPr sz="1300" b="0" i="0">
                <a:solidFill>
                  <a:srgbClr val="1D1D1D"/>
                </a:solidFill>
                <a:latin typeface="Arial"/>
              </a:rPr>
              <a:t>: хватит одного «да». Помните </a:t>
            </a:r>
            <a:r>
              <a:rPr sz="1300" b="1" i="0">
                <a:solidFill>
                  <a:srgbClr val="188038"/>
                </a:solidFill>
                <a:latin typeface="Courier New"/>
              </a:rPr>
              <a:t>&amp;&amp;</a:t>
            </a:r>
            <a:r>
              <a:rPr sz="1300" b="0" i="0">
                <a:solidFill>
                  <a:srgbClr val="1D1D1D"/>
                </a:solidFill>
                <a:latin typeface="Arial"/>
              </a:rPr>
              <a:t> (И) с занятия 8? Там нужны оба.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Как на занятии 7 с RFID: «выходим и пробуем снова».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Зачем?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Иначе на экране будет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nan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непонятно и некрасиво.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Лестница решений: else if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937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4348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Когда вариантов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больше двух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ставим ступеньки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Плата проверяет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сверху вниз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Первое «да» — выполняет 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дальше не смотрит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else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в конце — «во всех остальных случаях»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Порядок ступенек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важен</a:t>
            </a:r>
            <a:r>
              <a:rPr sz="1700" b="0" i="0">
                <a:solidFill>
                  <a:srgbClr val="1D1D1D"/>
                </a:solidFill>
                <a:latin typeface="Arial"/>
              </a:rPr>
              <a:t>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00200"/>
            <a:ext cx="3243834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0" y="1600200"/>
            <a:ext cx="2969514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C0C0C"/>
                </a:solidFill>
                <a:latin typeface="Courier New"/>
              </a:rPr>
              <a:t>if (t &lt; 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4554" y="1600200"/>
            <a:ext cx="411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1E30D3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6034" y="1600200"/>
            <a:ext cx="2242566" cy="1280160"/>
          </a:xfrm>
          <a:prstGeom prst="roundRect">
            <a:avLst>
              <a:gd name="adj" fmla="val 8000"/>
            </a:avLst>
          </a:prstGeom>
          <a:solidFill>
            <a:srgbClr val="1E88E5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7474" y="1600200"/>
            <a:ext cx="210540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Синий: холодно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063240"/>
            <a:ext cx="3243834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0" y="3063240"/>
            <a:ext cx="2969514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C0C0C"/>
                </a:solidFill>
                <a:latin typeface="Courier New"/>
              </a:rPr>
              <a:t>else if (t &lt;= 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4554" y="3063240"/>
            <a:ext cx="411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1E30D3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6034" y="3063240"/>
            <a:ext cx="2242566" cy="128016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7474" y="3063240"/>
            <a:ext cx="210540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Зелёный: комфорт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4526280"/>
            <a:ext cx="3243834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0" y="4526280"/>
            <a:ext cx="2969514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C0C0C"/>
                </a:solidFill>
                <a:latin typeface="Courier New"/>
              </a:rPr>
              <a:t>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4554" y="4526280"/>
            <a:ext cx="411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 i="0">
                <a:solidFill>
                  <a:srgbClr val="1E30D3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6034" y="4526280"/>
            <a:ext cx="2242566" cy="128016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7474" y="4526280"/>
            <a:ext cx="210540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Красный: жарко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RGB в функции: setColor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20928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redPin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3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только пины с ~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greenPin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bluePin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6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r,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g,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b)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analogWrite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(redPin, 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analogWrite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(greenPin, 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analogWrite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(bluePin, b);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6A9955"/>
                </a:solidFill>
                <a:latin typeface="Courier New"/>
              </a:rPr>
              <a:t>// использование: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синий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зелёный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жёлтый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setcolor.ino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Функция с 3 параметрами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Красный, зелёный, синий: от 0 до 255.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Пины 3, 5,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ШИМ-пины с тильдой ~ (занятие 5). Не 9/10/11 — пригодятся серве и другим модулям.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Цвета наоборот?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RGB с общим анодом: подавайте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255 - r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(в полном коде есть переключатель).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метеостанция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846320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DHT22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VCC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85640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21632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21632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DHT22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261128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197120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197120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075688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DHT22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GND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736616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67260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67260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551176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26664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VCC / GND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212104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148096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148096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026664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 / GND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02152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SDA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687592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623584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623584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502152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SCL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163080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099072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099072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3977639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453128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RGB LED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R (через 220 Ом)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638568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574560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574560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453128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928616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RGB LED  </a:t>
            </a:r>
            <a:r>
              <a:rPr sz="1300" b="1" i="0">
                <a:solidFill>
                  <a:srgbClr val="00897B"/>
                </a:solidFill>
                <a:latin typeface="Courier New"/>
              </a:rPr>
              <a:t>G (через 220 Ом)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114056"/>
            <a:ext cx="2103120" cy="0"/>
          </a:xfrm>
          <a:prstGeom prst="line">
            <a:avLst/>
          </a:prstGeom>
          <a:ln w="381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050048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050048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4928616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404104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RGB LED  </a:t>
            </a:r>
            <a:r>
              <a:rPr sz="1300" b="1" i="0">
                <a:solidFill>
                  <a:srgbClr val="D81B60"/>
                </a:solidFill>
                <a:latin typeface="Courier New"/>
              </a:rPr>
              <a:t>B (через 220 Ом)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86200" y="5589544"/>
            <a:ext cx="2103120" cy="0"/>
          </a:xfrm>
          <a:prstGeom prst="line">
            <a:avLst/>
          </a:prstGeom>
          <a:ln w="38100">
            <a:solidFill>
              <a:srgbClr val="D81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22191" y="5525536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25312" y="5525536"/>
            <a:ext cx="128016" cy="128016"/>
          </a:xfrm>
          <a:prstGeom prst="ellipse">
            <a:avLst/>
          </a:prstGeom>
          <a:solidFill>
            <a:srgbClr val="D81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5404104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79592"/>
            <a:ext cx="3337560" cy="3708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RGB LED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общий (−)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886200" y="6065032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822191" y="600102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925312" y="6001024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8" y="5879592"/>
            <a:ext cx="1371600" cy="37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Макетка: шины 5V и GND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DHT22: DATA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D4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Экран — как на прошлом уроке: SDA → A4, SCL → A5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RGB: R, G, B через резисторы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D3, D5, D6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Общий вывод RGB → GND (если общий анод — 5V)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метеостанции: главный цикл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849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t = dht.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readTemperature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h = dht.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readHumidity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isnan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(t) ||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isnan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(h)) {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"Temp: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(t,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C  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"Hum: 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(h,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%  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(t &lt;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18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  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(t &lt;=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26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         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setColor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255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meteo.ino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Сверху скетча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lcd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dht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setColor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как на прошлых слайдах.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print(t,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Один знак после точки: 23.7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Пробелы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Стирают хвосты старых цифр.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Лестница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Три цвета — три ступеньки.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метеостанция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Проверьте датчик через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монитор порта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Выведите температуру и влажность на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экран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Добавьте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RGB</a:t>
            </a:r>
            <a:r>
              <a:rPr sz="1900" b="0" i="0">
                <a:solidFill>
                  <a:srgbClr val="FFFFFF"/>
                </a:solidFill>
                <a:latin typeface="Arial"/>
              </a:rPr>
              <a:t>: синий / зелёный / красный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Испытайте: задайте в симуляции 10, 22 и 35 °C — все три цвета работают?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Числа на экране без «хвостов»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Три цвета по лестнице else if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При ошибке датчика — надпись Sensor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Добавьте значок градуса: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lcd.print((char)223);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 Или запоминайте максимум температуры и показывайте «Max: 31.5».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5450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На экране Sensor error или nan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Проверьте провод DATA →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D4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строку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DHT dht(4, DHT22)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— модель и пин должны совпадать.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4338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99580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5778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Ошибка: DHT.h: No such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887218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95778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 подключена библиотека: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Libraries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→ DHT sensor library →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Include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5635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23710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7075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Температура без дробной части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28515"/>
            <a:ext cx="0" cy="71094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4037075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Переменная объявлена как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вместо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float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6933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47839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78373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Всегда один цвет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5369814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278373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Неправильный порядок ступенек или RGB подключён не к пинам с ~.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Подключили датчик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DHT22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прочитали погоду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Узнали тип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float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для дробных чисел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Научились ловить ошибку датчика: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isnan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||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Построили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лестницу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else if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метеостанцию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 экраном и RGB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Движение: сервопривод и шлагбаум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Servo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62088" y="3794760"/>
            <a:ext cx="159105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Угол 0–180°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90304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map()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0152" y="37947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Плавность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61688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Шлагбаум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Чем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сервопривод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отличается от обычного мотора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управлять углом: библиотека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Servo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сделать движение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плавным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Почему серва «конфликтует» с ШИМ на пинах 9 и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Повернёте серву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ручкой-потенциометром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шлагбаум</a:t>
            </a:r>
            <a:r>
              <a:rPr sz="1800" b="0" i="0">
                <a:solidFill>
                  <a:srgbClr val="FFFFFF"/>
                </a:solidFill>
                <a:latin typeface="Arial"/>
              </a:rPr>
              <a:t>, который открывается и закрывается по кнопке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Мотор VS сервопривод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Обычный мотор: крутится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без остановки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пока есть ток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Сервопривод: поворачивается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на точный угол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и держит его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Диапазон: от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0°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до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180°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половина круга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Внутри: мотор + шестерёнки + датчик угла + свой мозг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Где: шлагбаумы, рули моделей, руки роботов, заслонки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9" y="1463040"/>
            <a:ext cx="57150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Block Arc 5"/>
          <p:cNvSpPr/>
          <p:nvPr/>
        </p:nvSpPr>
        <p:spPr>
          <a:xfrm>
            <a:off x="6880860" y="2651760"/>
            <a:ext cx="3840480" cy="3840480"/>
          </a:xfrm>
          <a:prstGeom prst="blockArc">
            <a:avLst>
              <a:gd name="adj1" fmla="val 10800000"/>
              <a:gd name="adj2" fmla="val 0"/>
              <a:gd name="adj3" fmla="val 8000"/>
            </a:avLst>
          </a:prstGeom>
          <a:solidFill>
            <a:srgbClr val="BBC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440740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8071" y="2710139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45°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5340" y="2007107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90°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2608" y="2710139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135°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440740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180°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579066" y="3349966"/>
            <a:ext cx="1222034" cy="1222034"/>
          </a:xfrm>
          <a:prstGeom prst="line">
            <a:avLst/>
          </a:prstGeom>
          <a:ln w="63500">
            <a:solidFill>
              <a:srgbClr val="E37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91372" y="4462272"/>
            <a:ext cx="219456" cy="219456"/>
          </a:xfrm>
          <a:prstGeom prst="ellipse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19" y="4937760"/>
            <a:ext cx="51663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write(45)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— стрелка встанет на 45°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Три провода сервопривода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Коричневый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(или чёрный) — GND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Красный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5V, питание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Оранжевый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(или жёлтый) — сигнал, к любому цифровому пину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Сигнал — это ШИМ-импульсы: длина импульса = угол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В жизни мощной серве нужен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отдельный блок питания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39" y="2926080"/>
            <a:ext cx="2971800" cy="1428750"/>
          </a:xfrm>
          <a:prstGeom prst="roundRect">
            <a:avLst>
              <a:gd name="adj" fmla="val 10000"/>
            </a:avLst>
          </a:prstGeom>
          <a:solidFill>
            <a:srgbClr val="1E88E5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149339" y="3440430"/>
            <a:ext cx="3657600" cy="400050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 rot="19800000">
            <a:off x="7212329" y="2205990"/>
            <a:ext cx="274320" cy="160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98029" y="3383280"/>
            <a:ext cx="502920" cy="502920"/>
          </a:xfrm>
          <a:prstGeom prst="ellipse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69479" y="3554730"/>
            <a:ext cx="160020" cy="160020"/>
          </a:xfrm>
          <a:prstGeom prst="ellipse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78139" y="309753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SERVO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39" y="3268980"/>
            <a:ext cx="1028700" cy="0"/>
          </a:xfrm>
          <a:prstGeom prst="line">
            <a:avLst/>
          </a:prstGeom>
          <a:ln w="44450">
            <a:solidFill>
              <a:srgbClr val="6D4C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07039" y="31409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6D4C41"/>
                </a:solidFill>
                <a:latin typeface="Arial"/>
              </a:rPr>
              <a:t>GND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4039" y="3611880"/>
            <a:ext cx="1028700" cy="0"/>
          </a:xfrm>
          <a:prstGeom prst="line">
            <a:avLst/>
          </a:prstGeom>
          <a:ln w="4445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607039" y="34838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E53935"/>
                </a:solidFill>
                <a:latin typeface="Arial"/>
              </a:rPr>
              <a:t>5V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64039" y="3954780"/>
            <a:ext cx="1028700" cy="0"/>
          </a:xfrm>
          <a:prstGeom prst="line">
            <a:avLst/>
          </a:prstGeom>
          <a:ln w="4445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07039" y="382676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B8C00"/>
                </a:solidFill>
                <a:latin typeface="Arial"/>
              </a:rPr>
              <a:t>сигнал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Библиотека Servo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969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&lt;Servo.h&gt;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Servo myServo;    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создаём серву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attach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сигнал — на пин 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0 градусов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90 градусов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180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180 градусов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servo_test.ino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Устанавливать не нужно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Servo — встроенная библиотека Arduino. Просто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attach(9)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«Серва, слушай пин 9».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write(угол)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Повернуться на угол от 0 до 180.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Важно!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 Servo пины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9 и 10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теряют ШИМ. RGB — на 3, 5, 6.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Разминка: серва слушается ручку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96544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&lt;Servo.h&gt;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Servo myServo;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attach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pot =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analogRead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A0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angle =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map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(pot,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1023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180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myServo.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(angle);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ruchka.ino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map снова с нами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Ручка 0…1023 → угол 0…180. Как с яркостью на занятии 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delay(15)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Даём серве время доехать до нового угла.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Задание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Добавьте потенциометр на A0 и покрутите ручку во время симуляции.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Плавное движение: серва как лифт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write(90)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серва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прыгает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на 90° максимально быстро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Настоящий шлагбаум поднимается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плавно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Решение: цикл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for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по 1 градусу с паузой 15 мс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90 шагов × 15 мс ≈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1,4 секунды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на подъём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Меньше пауза — быстрее движение</a:t>
            </a:r>
          </a:p>
        </p:txBody>
      </p:sp>
      <p:sp>
        <p:nvSpPr>
          <p:cNvPr id="5" name="Код"/>
          <p:cNvSpPr/>
          <p:nvPr/>
        </p:nvSpPr>
        <p:spPr>
          <a:xfrm>
            <a:off x="6217920" y="1737360"/>
            <a:ext cx="5440680" cy="23774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a 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a &lt;=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a++)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gate.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Шлагбаум: функция moveGate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96544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moveGate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from,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to)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(from &lt; to)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a = from; a &lt;= to; a++)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  gate.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for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a = from; a &gt;= to; a--)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  gate.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15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shlagbaum.ino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Два параметра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Откуда и куда ехать.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Вверх или вниз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Если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from &lt; to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считаем вверх (a++), иначе вниз (a--).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Повторное использование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Эта же функция пригодится в теплице и гараже на хакатоне!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Шлагбаум: память и кнопка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3600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&lt;Servo.h&gt;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Servo gate;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gateOpen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0 — закрыт, 1 — открыт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gate.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attach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9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gate.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pinMode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INPUT_PULLUP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==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8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1500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(gateOpen ==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moveGate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 gateOpen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              {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moveGate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 gateOpen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300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shlagbaum.ino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gateOpen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Переменная состояния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как в хлопковом ночнике (занятие 6).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Одна кнопка — два действия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Шлагбаум помнит, открыт он или закрыт.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tone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Короткий «бип» на баззере D8 — подтверждение нажатия.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шлагбаум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187952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Servo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коричневый GND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99904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3589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3589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Servo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красный V+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311968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24796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24796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11226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Servo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оранжевый сигнал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824032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760024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760024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62432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3639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вывод 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336096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272088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272088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13639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48456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Кнопка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вывод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848160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784152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784152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648456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+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360224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296216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296216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416052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7258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−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872288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808280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808280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67258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8464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Потенциометр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середина (разминка)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384352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518464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Найдите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Servo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в Simulation Parts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Сигнал сервы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D9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 — D2 и GND, баззер — D8 и GND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Потенциометр нужен только для разминки: края 5V и GND, середина A0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Серва должна стартовать в положении 0° (закрыто)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шлагбаум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Разминка: серва повторяет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ручку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потенциометра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Напишите функцию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moveGate(from, to)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Кнопка: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открыть / закрыть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с памятью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gateOpen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Добавьте «бип» при каждом нажатии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Шлагбаум движется плавно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Одна кнопка и открывает, и закрывает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Есть функция moveGate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Стрелочный термометр: DHT22 + серва.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map((int)t, -10, 40, 180, 0)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стрелка показывает температуру, как на старых приборах.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5450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Серва не двигается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Проверьте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attach(9)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провод сигнала на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D9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 Деталь — из Simulation Parts?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4338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99580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5778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Шлагбаум открывается и сразу закрывается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887218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95778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Нет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delay(300)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после нажатия — кнопка считывается дважды.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5635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23710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7075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Серва крутится «не в ту сторону»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28515"/>
            <a:ext cx="0" cy="71094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4037075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Поменяйте углы местами или используйте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180 - angle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6933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47839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78373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RGB на 9 или 10 перестал плавно светить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5369814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278373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Servo занимает ШИМ на 9 и 10. Переносим RGB на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3, 5, 6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Узнали, чем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сервопривод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отличается от мотора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Управляли углом через библиотеку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Servo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Сделали движение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плавным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 помощью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for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шлагбаум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 памятью состояния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Летучая мышь: ультразвуковой дальномер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HC-SR04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379476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Эхолокация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00032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pulseIn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61688"/>
            <a:ext cx="170078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return float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0183" y="4361688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Парктроник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работает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эхолокация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устроен датчик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HC-SR04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по времени эха посчитать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расстояние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написать функцию, которая возвращает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float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парктроник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чем ближе препятствие, тем чаще пищит баззер; расстояние — на экране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Эхолокация: как видит летучая мышь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457200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06908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Мышь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кричит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ультразвуком — мы его не слышим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Звук летит,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отражается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от стены и возвращается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Чем дальше стена — тем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дольше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ждать эхо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Так же «видят» дельфины, подводные лодки и парктроники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399" y="3360420"/>
            <a:ext cx="2057400" cy="92583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57849" y="3442715"/>
            <a:ext cx="685800" cy="685800"/>
          </a:xfrm>
          <a:prstGeom prst="ellipse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74436" y="3559301"/>
            <a:ext cx="452628" cy="452628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57849" y="414908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C0C0C"/>
                </a:solidFill>
                <a:latin typeface="Arial"/>
              </a:rPr>
              <a:t>Trig</a:t>
            </a:r>
          </a:p>
        </p:txBody>
      </p:sp>
      <p:sp>
        <p:nvSpPr>
          <p:cNvPr id="9" name="Oval 8"/>
          <p:cNvSpPr/>
          <p:nvPr/>
        </p:nvSpPr>
        <p:spPr>
          <a:xfrm>
            <a:off x="6686549" y="3442715"/>
            <a:ext cx="685800" cy="685800"/>
          </a:xfrm>
          <a:prstGeom prst="ellipse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03136" y="3559301"/>
            <a:ext cx="452628" cy="452628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6549" y="414908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C0C0C"/>
                </a:solidFill>
                <a:latin typeface="Arial"/>
              </a:rPr>
              <a:t>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09960" y="1737360"/>
            <a:ext cx="411480" cy="4251960"/>
          </a:xfrm>
          <a:prstGeom prst="roundRect">
            <a:avLst>
              <a:gd name="adj" fmla="val 5000"/>
            </a:avLst>
          </a:prstGeom>
          <a:solidFill>
            <a:srgbClr val="9E9E9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61320" y="597103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5A6270"/>
                </a:solidFill>
                <a:latin typeface="Arial"/>
              </a:rPr>
              <a:t>стена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9" y="3543299"/>
            <a:ext cx="3337561" cy="0"/>
          </a:xfrm>
          <a:prstGeom prst="line">
            <a:avLst/>
          </a:prstGeom>
          <a:ln w="38100">
            <a:solidFill>
              <a:srgbClr val="1E30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680959" y="4183379"/>
            <a:ext cx="3337561" cy="0"/>
          </a:xfrm>
          <a:prstGeom prst="line">
            <a:avLst/>
          </a:prstGeom>
          <a:ln w="38100">
            <a:solidFill>
              <a:srgbClr val="E374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59" y="2994659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1. «Крик» — ультразвук (Trig)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3205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37400"/>
                </a:solidFill>
                <a:latin typeface="Arial"/>
              </a:rPr>
              <a:t>2. Эхо возвращается (Echo)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Знакомьтесь: HC-SR04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Два «глаза» — на самом деле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рот и ухо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Trig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«рот»: кричит, когда получает импульс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D1D1D"/>
                </a:solidFill>
                <a:latin typeface="Arial"/>
              </a:rPr>
              <a:t>Echo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«ухо»: держит HIGH, пока ждёт эхо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Дальность: от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2 до 400 см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4 вывода: VCC, TRIG, ECHO, GND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79" y="2377440"/>
            <a:ext cx="3977639" cy="1789938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915150" y="2536545"/>
            <a:ext cx="1325880" cy="1325880"/>
          </a:xfrm>
          <a:prstGeom prst="ellipse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40549" y="2761945"/>
            <a:ext cx="875080" cy="87508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15150" y="390220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C0C0C"/>
                </a:solidFill>
                <a:latin typeface="Arial"/>
              </a:rPr>
              <a:t>Trig</a:t>
            </a:r>
          </a:p>
        </p:txBody>
      </p:sp>
      <p:sp>
        <p:nvSpPr>
          <p:cNvPr id="9" name="Oval 8"/>
          <p:cNvSpPr/>
          <p:nvPr/>
        </p:nvSpPr>
        <p:spPr>
          <a:xfrm>
            <a:off x="8903969" y="2536545"/>
            <a:ext cx="1325880" cy="1325880"/>
          </a:xfrm>
          <a:prstGeom prst="ellipse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29369" y="2761945"/>
            <a:ext cx="875080" cy="87508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3969" y="390220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0C0C0C"/>
                </a:solidFill>
                <a:latin typeface="Arial"/>
              </a:rPr>
              <a:t>Echo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75854" y="4167378"/>
            <a:ext cx="0" cy="66294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3246" y="4896612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VCC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73617" y="4167378"/>
            <a:ext cx="0" cy="66294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81009" y="4896612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TRIG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1382" y="4167378"/>
            <a:ext cx="0" cy="66294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78774" y="4896612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ECHO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69146" y="4167378"/>
            <a:ext cx="0" cy="66294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76538" y="4896612"/>
            <a:ext cx="5852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900" b="1" i="0">
                <a:solidFill>
                  <a:srgbClr val="5A6270"/>
                </a:solidFill>
                <a:latin typeface="Courier New"/>
              </a:rPr>
              <a:t>GND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Физика: из времени — в сантиметры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417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ourier New"/>
              </a:rPr>
              <a:t>расстояние = время × 0.0343 /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375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3566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Courier New"/>
              </a:rPr>
              <a:t>0.0343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43891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Скорость звука: 343 м/с =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0,0343 см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за 1 микросекунду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3375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3566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Courier New"/>
              </a:rPr>
              <a:t>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3891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Звук летит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туда и обратно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делим путь пополам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3375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0" y="35661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Courier New"/>
              </a:rPr>
              <a:t>Пример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38912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Эхо пришло через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1000 мкс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→ 1000 × 0,0343 / 2 ≈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17 см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Функция measureDistance()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96544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measureDistance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(trigPin,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delayMicroseconds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(trigPin,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крик 10 мкс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delayMicroseconds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(trigPin,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569CD6"/>
                </a:solidFill>
                <a:latin typeface="Courier New"/>
              </a:rPr>
              <a:t>long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duration =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pulseIn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(echoPin,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30000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(duration ==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999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эхо не вернулось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return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duration *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0.0343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/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parktronik.ino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float вместо void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Функция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вернёт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дробное число — сантиметры.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delayMicroseconds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Пауза в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микросекундах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1 мс = 1000 мкс.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pulseIn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Ждёт, пока ECHO будет HIGH, и меряет, сколько это длилось.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30000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Не ждём дольше 30 мс. Нет эха — значит очень далеко: 999.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Логика парктроника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Дальше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100 см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тишина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10 до 100 см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короткие писки, чем ближе, тем чаще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Ближе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10 см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сплошной сигнал: СТОП!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Пауза между писками: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map(cm, 10, 100, 100, 600)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Обратите внимание: map может «переворачивать» диапазон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9" y="2011680"/>
            <a:ext cx="1373886" cy="201168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35039" y="2148840"/>
            <a:ext cx="120015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&lt; 10 см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9" y="3017520"/>
            <a:ext cx="120015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сплошной сигнал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72350" y="2011680"/>
            <a:ext cx="2516886" cy="2011680"/>
          </a:xfrm>
          <a:prstGeom prst="roundRect">
            <a:avLst>
              <a:gd name="adj" fmla="val 8000"/>
            </a:avLst>
          </a:prstGeom>
          <a:solidFill>
            <a:srgbClr val="FB8C00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63790" y="2148840"/>
            <a:ext cx="234315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10–100 см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3790" y="3017520"/>
            <a:ext cx="234315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пи…пи…пи-пи-пи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44100" y="2011680"/>
            <a:ext cx="1659636" cy="201168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35540" y="2148840"/>
            <a:ext cx="148590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&gt; 100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5540" y="3017520"/>
            <a:ext cx="1485900" cy="905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тишина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9" y="4206240"/>
            <a:ext cx="5715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5A6270"/>
                </a:solidFill>
                <a:latin typeface="Arial"/>
              </a:rPr>
              <a:t>←  ближе                                      дальше  →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Карта подключения: парктроник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0" y="1490472"/>
            <a:ext cx="1554480" cy="4700016"/>
          </a:xfrm>
          <a:prstGeom prst="roundRect">
            <a:avLst>
              <a:gd name="adj" fmla="val 5000"/>
            </a:avLst>
          </a:prstGeom>
          <a:solidFill>
            <a:srgbClr val="00878A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89320" y="109728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0878A"/>
                </a:solidFill>
                <a:latin typeface="Arial"/>
              </a:rPr>
              <a:t>Arduino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HC-SR04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VCC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1799904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22191" y="1735896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25312" y="1735896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1226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HC-SR04  </a:t>
            </a:r>
            <a:r>
              <a:rPr sz="1300" b="1" i="0">
                <a:solidFill>
                  <a:srgbClr val="1E88E5"/>
                </a:solidFill>
                <a:latin typeface="Courier New"/>
              </a:rPr>
              <a:t>TRIG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311968"/>
            <a:ext cx="2103120" cy="0"/>
          </a:xfrm>
          <a:prstGeom prst="line">
            <a:avLst/>
          </a:prstGeom>
          <a:ln w="38100">
            <a:solidFill>
              <a:srgbClr val="1E8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822191" y="2247960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25312" y="2247960"/>
            <a:ext cx="128016" cy="128016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11226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2432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HC-SR04  </a:t>
            </a:r>
            <a:r>
              <a:rPr sz="1300" b="1" i="0">
                <a:solidFill>
                  <a:srgbClr val="FB8C00"/>
                </a:solidFill>
                <a:latin typeface="Courier New"/>
              </a:rPr>
              <a:t>ECHO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86200" y="2824032"/>
            <a:ext cx="2103120" cy="0"/>
          </a:xfrm>
          <a:prstGeom prst="line">
            <a:avLst/>
          </a:prstGeom>
          <a:ln w="38100">
            <a:solidFill>
              <a:srgbClr val="FB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822191" y="2760024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2760024"/>
            <a:ext cx="128016" cy="128016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62432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3639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HC-SR04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GND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336096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822191" y="327208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3272088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13639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48456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43A047"/>
                </a:solidFill>
                <a:latin typeface="Courier New"/>
              </a:rPr>
              <a:t>+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848160"/>
            <a:ext cx="2103120" cy="0"/>
          </a:xfrm>
          <a:prstGeom prst="line">
            <a:avLst/>
          </a:prstGeom>
          <a:ln w="38100">
            <a:solidFill>
              <a:srgbClr val="43A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822191" y="3784152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25312" y="3784152"/>
            <a:ext cx="128016" cy="128016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3648456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D8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Баззер  </a:t>
            </a:r>
            <a:r>
              <a:rPr sz="1300" b="1" i="0">
                <a:solidFill>
                  <a:srgbClr val="263238"/>
                </a:solidFill>
                <a:latin typeface="Courier New"/>
              </a:rPr>
              <a:t>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86200" y="4360224"/>
            <a:ext cx="2103120" cy="0"/>
          </a:xfrm>
          <a:prstGeom prst="line">
            <a:avLst/>
          </a:prstGeom>
          <a:ln w="38100">
            <a:solidFill>
              <a:srgbClr val="263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3822191" y="429621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5312" y="4296216"/>
            <a:ext cx="128016" cy="128016"/>
          </a:xfrm>
          <a:prstGeom prst="ellipse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4160520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GND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72584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0C0C0C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E53935"/>
                </a:solidFill>
                <a:latin typeface="Courier New"/>
              </a:rPr>
              <a:t>VCC / GND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872288"/>
            <a:ext cx="2103120" cy="0"/>
          </a:xfrm>
          <a:prstGeom prst="line">
            <a:avLst/>
          </a:prstGeom>
          <a:ln w="381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822191" y="480828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5312" y="4808280"/>
            <a:ext cx="128016" cy="128016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8" y="4672584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5V / GND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84648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8E24AA"/>
                </a:solidFill>
                <a:latin typeface="Courier New"/>
              </a:rPr>
              <a:t>SDA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886200" y="5384352"/>
            <a:ext cx="2103120" cy="0"/>
          </a:xfrm>
          <a:prstGeom prst="line">
            <a:avLst/>
          </a:prstGeom>
          <a:ln w="38100">
            <a:solidFill>
              <a:srgbClr val="8E2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822191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5312" y="5320344"/>
            <a:ext cx="128016" cy="128016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5184648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696712"/>
            <a:ext cx="3337560" cy="39940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0" bIns="0"/>
          <a:lstStyle/>
          <a:p>
            <a:r>
              <a:rPr sz="1300" b="1" i="0">
                <a:solidFill>
                  <a:srgbClr val="5A6270"/>
                </a:solidFill>
                <a:latin typeface="Arial"/>
              </a:rPr>
              <a:t>LCD I2C  </a:t>
            </a:r>
            <a:r>
              <a:rPr sz="1300" b="1" i="0">
                <a:solidFill>
                  <a:srgbClr val="00897B"/>
                </a:solidFill>
                <a:latin typeface="Courier New"/>
              </a:rPr>
              <a:t>SCL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886200" y="5896416"/>
            <a:ext cx="2103120" cy="0"/>
          </a:xfrm>
          <a:prstGeom prst="line">
            <a:avLst/>
          </a:prstGeom>
          <a:ln w="381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822191" y="5832408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925312" y="5832408"/>
            <a:ext cx="128016" cy="128016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9048" y="5696712"/>
            <a:ext cx="1371600" cy="39940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A5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63840" y="146304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092440" y="16459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Как собрать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103120"/>
            <a:ext cx="342900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HC-SR04 из Simulation Parts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TRIG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D7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ECHO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D12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Баззер — D8 (как всегда)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Экран — A4 / A5</a:t>
            </a:r>
          </a:p>
          <a:p>
            <a:pPr algn="l" marL="329184" indent="-329184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AutoNum type="arabicPeriod"/>
            </a:pPr>
            <a:r>
              <a:rPr sz="1400" b="0" i="0">
                <a:solidFill>
                  <a:srgbClr val="1D1D1D"/>
                </a:solidFill>
                <a:latin typeface="Arial"/>
              </a:rPr>
              <a:t>Во время симуляции кликните по датчику и меняйте расстояние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Код парктроника: главный цикл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817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cm =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measureDistance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(cm,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lcd.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" cm     "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(cm &lt;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       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СТОП!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(cm &lt;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50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    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пик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map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((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)cm,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600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noTone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(buzzerPin);            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тишина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parktronik.ino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(int)cm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map работает с целыми числами — превращаем float в 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Три зоны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Лестница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/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else if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/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Сверху скетча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#include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lcd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пины 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setup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с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pinMode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полный код в сценарии.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парктроник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Соберите датчик и выведите расстояние в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монитор порта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Напишите функцию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measureDistance()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Выведите расстояние на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экран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Добавьте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три зоны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звука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Расстояние правдоподобное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Писк ускоряется при приближении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Ближе 10 см — сплошной сигнал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Добавьте RGB-светофор: зелёный, жёлтый, красный по зонам. Или шкалу на второй строке экрана, как на занятии 11.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5450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Всегда 999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Перепутаны TRIG и ECHO или в коде другие пины. Проверьте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pinMode</a:t>
            </a:r>
            <a:r>
              <a:rPr sz="1500" b="0" i="0">
                <a:solidFill>
                  <a:srgbClr val="1D1D1D"/>
                </a:solidFill>
                <a:latin typeface="Arial"/>
              </a:rPr>
              <a:t>: TRIG — OUTPUT, ECHO —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4338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99580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5778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Расстояние «скачет»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887218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95778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В демо Cirkit перед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pulseIn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ставят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noInterrupts()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, а после —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interrupts()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 Попробуйте так.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5635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23710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7075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Писк не меняется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28515"/>
            <a:ext cx="0" cy="71094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4037075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Проверьте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map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(int)cm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 Выведите паузу в монитор порта.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6933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47839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78373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Ошибка: 'measureDistance' was not declared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5369814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278373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Функция должна быть написана </a:t>
            </a:r>
            <a:r>
              <a:rPr sz="1500" b="1" i="0">
                <a:solidFill>
                  <a:srgbClr val="1D1D1D"/>
                </a:solidFill>
                <a:latin typeface="Arial"/>
              </a:rPr>
              <a:t>выше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или проверьте опечатку.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Разобрались, как работает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эхолокация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Посчитали расстояние по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скорости звука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Написали функцию, которая возвращает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float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парктроник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с тремя зонами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Многозадачность: millis() вместо delay()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millis()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91271" y="3794760"/>
            <a:ext cx="181051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unsigned long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38943" y="379476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bool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61688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Таймеры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81544" y="436168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Парктроник 2.0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Почему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delay()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мешает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делать несколько дел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Что такое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millis()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— часы платы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Формула неблокирующего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таймера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Типы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unsigned long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bool</a:t>
            </a:r>
            <a:r>
              <a:rPr sz="1800" b="0" i="0">
                <a:solidFill>
                  <a:srgbClr val="1D1D1D"/>
                </a:solidFill>
                <a:latin typeface="Arial"/>
              </a:rPr>
              <a:t>, оператор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Мигалка + кнопка, которая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мгновенно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реагирует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1" i="0">
                <a:solidFill>
                  <a:srgbClr val="FFFFFF"/>
                </a:solidFill>
                <a:latin typeface="Arial"/>
              </a:rPr>
              <a:t>Парктроник 2.0</a:t>
            </a:r>
            <a:r>
              <a:rPr sz="1800" b="0" i="0">
                <a:solidFill>
                  <a:srgbClr val="FFFFFF"/>
                </a:solidFill>
                <a:latin typeface="Arial"/>
              </a:rPr>
              <a:t>: замер, писк, экран и кнопка «тишина» — одновременно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Эксперимент: кнопка «не слышит»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2339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плата спит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(ledPin,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delay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и ещё спит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(buttonPin) == </a:t>
            </a:r>
            <a:r>
              <a:rPr sz="16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200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problema.ino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Задание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Соберите: светодиод D10, кнопка D2, баззер D8. Запустите.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Нажмите кнопку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Быстро. Пищит? А если ещё раз?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Почему?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Кнопку проверяем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раз в 2 секунды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в остальное время плата спит в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delay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Варим кашу: delay VS millis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0C0C0C"/>
                </a:solidFill>
                <a:latin typeface="Arial"/>
              </a:rPr>
              <a:t>delay() — уснуть у плиты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Поставил кашу, лёг спать на 10 минут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В это время позвонили в дверь — не услышал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Кот уронил чашку — не заметил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Плата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блокирована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035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millis() — поглядывать на часы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Поставил кашу, запомнил время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Делаешь уроки, открываешь дверь, кормишь кота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Иногда смотришь: прошло 10 минут? — снимаешь кашу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Плата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свободна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между проверками</a:t>
            </a:r>
          </a:p>
        </p:txBody>
      </p:sp>
      <p:sp>
        <p:nvSpPr>
          <p:cNvPr id="9" name="Oval 8"/>
          <p:cNvSpPr/>
          <p:nvPr/>
        </p:nvSpPr>
        <p:spPr>
          <a:xfrm>
            <a:off x="5692140" y="3451859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VS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millis() — часы платы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89204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millis()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возвращает, сколько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миллисекунд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прошло с включения платы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Через 1 секунду — 1000, через минуту — 60 000…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Числа огромные — нужна большая коробка: </a:t>
            </a:r>
            <a:r>
              <a:rPr sz="1700" b="1" i="0">
                <a:solidFill>
                  <a:srgbClr val="188038"/>
                </a:solidFill>
                <a:latin typeface="Courier New"/>
              </a:rPr>
              <a:t>unsigned long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1" i="0">
                <a:solidFill>
                  <a:srgbClr val="188038"/>
                </a:solidFill>
                <a:latin typeface="Courier New"/>
              </a:rPr>
              <a:t>unsigned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—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без минуса</a:t>
            </a:r>
            <a:r>
              <a:rPr sz="1700" b="0" i="0">
                <a:solidFill>
                  <a:srgbClr val="1D1D1D"/>
                </a:solidFill>
                <a:latin typeface="Arial"/>
              </a:rPr>
              <a:t>: от 0 до 4 млрд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Хватает на ~49 дней работы без перерыва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6537959" y="3474720"/>
            <a:ext cx="4800600" cy="0"/>
          </a:xfrm>
          <a:prstGeom prst="line">
            <a:avLst/>
          </a:prstGeom>
          <a:ln w="31750">
            <a:solidFill>
              <a:srgbClr val="1D1D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20840" y="3364992"/>
            <a:ext cx="0" cy="219456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7220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Courier New"/>
              </a:rPr>
              <a:t>0 мс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6690" y="3364992"/>
            <a:ext cx="0" cy="219456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5805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Courier New"/>
              </a:rPr>
              <a:t>1000 мс</a:t>
            </a:r>
          </a:p>
        </p:txBody>
      </p:sp>
      <p:sp>
        <p:nvSpPr>
          <p:cNvPr id="11" name="Oval 10"/>
          <p:cNvSpPr/>
          <p:nvPr/>
        </p:nvSpPr>
        <p:spPr>
          <a:xfrm>
            <a:off x="7651242" y="2907792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892540" y="3364992"/>
            <a:ext cx="0" cy="219456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4390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Courier New"/>
              </a:rPr>
              <a:t>2000 мс</a:t>
            </a:r>
          </a:p>
        </p:txBody>
      </p:sp>
      <p:sp>
        <p:nvSpPr>
          <p:cNvPr id="14" name="Oval 13"/>
          <p:cNvSpPr/>
          <p:nvPr/>
        </p:nvSpPr>
        <p:spPr>
          <a:xfrm>
            <a:off x="8737092" y="2907792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978390" y="3364992"/>
            <a:ext cx="0" cy="219456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2975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Courier New"/>
              </a:rPr>
              <a:t>3000 мс</a:t>
            </a:r>
          </a:p>
        </p:txBody>
      </p:sp>
      <p:sp>
        <p:nvSpPr>
          <p:cNvPr id="17" name="Oval 16"/>
          <p:cNvSpPr/>
          <p:nvPr/>
        </p:nvSpPr>
        <p:spPr>
          <a:xfrm>
            <a:off x="9822942" y="2907792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1064240" y="3364992"/>
            <a:ext cx="0" cy="219456"/>
          </a:xfrm>
          <a:prstGeom prst="line">
            <a:avLst/>
          </a:prstGeom>
          <a:ln w="25400">
            <a:solidFill>
              <a:srgbClr val="1D1D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0" y="36393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6270"/>
                </a:solidFill>
                <a:latin typeface="Courier New"/>
              </a:rPr>
              <a:t>4000 мс</a:t>
            </a:r>
          </a:p>
        </p:txBody>
      </p:sp>
      <p:sp>
        <p:nvSpPr>
          <p:cNvPr id="20" name="Oval 19"/>
          <p:cNvSpPr/>
          <p:nvPr/>
        </p:nvSpPr>
        <p:spPr>
          <a:xfrm>
            <a:off x="10908792" y="2907792"/>
            <a:ext cx="310896" cy="310896"/>
          </a:xfrm>
          <a:prstGeom prst="ellipse">
            <a:avLst/>
          </a:prstGeom>
          <a:solidFill>
            <a:srgbClr val="E3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37744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E37400"/>
                </a:solidFill>
                <a:latin typeface="Arial"/>
              </a:rPr>
              <a:t>каждые 1000 мс: «пора!» → переключаем светодиод</a:t>
            </a:r>
          </a:p>
        </p:txBody>
      </p:sp>
      <p:sp>
        <p:nvSpPr>
          <p:cNvPr id="22" name="Oval 21"/>
          <p:cNvSpPr/>
          <p:nvPr/>
        </p:nvSpPr>
        <p:spPr>
          <a:xfrm>
            <a:off x="6766559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32307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98054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3802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29550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5297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1044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26792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92540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58287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24034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89782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55530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21277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87025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52772" y="4041648"/>
            <a:ext cx="91440" cy="914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59" y="42519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E30D3"/>
                </a:solidFill>
                <a:latin typeface="Arial"/>
              </a:rPr>
              <a:t>а между ними loop крутится тысячи раз и проверяет кнопку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Формула таймера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766560" cy="21945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20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2000" b="0" i="0">
                <a:solidFill>
                  <a:srgbClr val="DCDCAA"/>
                </a:solidFill>
                <a:latin typeface="Courier New"/>
              </a:rPr>
              <a:t>millis</a:t>
            </a:r>
            <a:r>
              <a:rPr sz="2000" b="0" i="0">
                <a:solidFill>
                  <a:srgbClr val="D4D4D4"/>
                </a:solidFill>
                <a:latin typeface="Courier New"/>
              </a:rPr>
              <a:t>() - lastTime &gt;= </a:t>
            </a:r>
            <a:r>
              <a:rPr sz="20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20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D4D4D4"/>
                </a:solidFill>
                <a:latin typeface="Courier New"/>
              </a:rPr>
              <a:t>  lastTime = </a:t>
            </a:r>
            <a:r>
              <a:rPr sz="2000" b="0" i="0">
                <a:solidFill>
                  <a:srgbClr val="DCDCAA"/>
                </a:solidFill>
                <a:latin typeface="Courier New"/>
              </a:rPr>
              <a:t>millis</a:t>
            </a:r>
            <a:r>
              <a:rPr sz="20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2000" b="0" i="0">
                <a:solidFill>
                  <a:srgbClr val="6A9955"/>
                </a:solidFill>
                <a:latin typeface="Courier New"/>
              </a:rPr>
              <a:t>// делаем дело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46304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0" y="146304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millis() - lastTime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Сколько прошло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с прошлого раза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24028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0" y="224028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&gt;= 1000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Прошла секунда? Пора!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01752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0" y="3017520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lastTime = millis()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Запоминаем время —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заводим будильник снова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109960" cy="233172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Правило: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в loop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нет ни одного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длинного </a:t>
            </a:r>
            <a:r>
              <a:rPr sz="2000" b="1" i="0">
                <a:solidFill>
                  <a:srgbClr val="FFE082"/>
                </a:solidFill>
                <a:latin typeface="Courier New"/>
              </a:rPr>
              <a:t>delay</a:t>
            </a:r>
            <a:r>
              <a:rPr sz="2000" b="0" i="0">
                <a:solidFill>
                  <a:srgbClr val="FFFFFF"/>
                </a:solidFill>
                <a:latin typeface="Arial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Каждое дело проверяет </a:t>
            </a:r>
            <a:r>
              <a:rPr sz="2000" b="1" i="0">
                <a:solidFill>
                  <a:srgbClr val="FFFFFF"/>
                </a:solidFill>
                <a:latin typeface="Arial"/>
              </a:rPr>
              <a:t>свой</a:t>
            </a:r>
            <a:r>
              <a:rPr sz="2000" b="0" i="0">
                <a:solidFill>
                  <a:srgbClr val="FFFFFF"/>
                </a:solidFill>
                <a:latin typeface="Arial"/>
              </a:rPr>
              <a:t> таймер — и loop крутится тысячи раз в секунду, успевая всё.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Решение: мигалка + мгновенная кнопка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36007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unsigned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long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lastBlink 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bool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ledOn =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Дело 1: мигать раз в секунду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millis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 - lastBlink &gt;=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lastBlink =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millis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ledOn = !ledOn;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digitalWrite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(ledPin, ledOn);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Дело 2: пищать, пока нажата кнопка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(buttonPin) == </a:t>
            </a:r>
            <a:r>
              <a:rPr sz="14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noTone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(buzzerPin);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millis.ino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bool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Коробка для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да / нет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true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или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false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1394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33223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040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!ledOn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24656"/>
            <a:ext cx="3063240" cy="88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НЕ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переворачивает true ↔ false. Включено → выключено.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15840"/>
            <a:ext cx="3886200" cy="153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9987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9804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Проверьте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401056"/>
            <a:ext cx="3063240" cy="880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Теперь кнопка пищит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мгновенно</a:t>
            </a:r>
            <a:r>
              <a:rPr sz="1400" b="0" i="0">
                <a:solidFill>
                  <a:srgbClr val="1D1D1D"/>
                </a:solidFill>
                <a:latin typeface="Arial"/>
              </a:rPr>
              <a:t>, а светодиод продолжает мигать.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Много дел — много таймеров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Замер расстояния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Свой таймер: </a:t>
            </a:r>
            <a:r>
              <a:rPr sz="1900" b="1" i="0">
                <a:solidFill>
                  <a:srgbClr val="1D1D1D"/>
                </a:solidFill>
                <a:latin typeface="Arial"/>
              </a:rPr>
              <a:t>каждые 100 мс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4710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62331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331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Писк баззера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10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Свой таймер: пауза зависит от расстояния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6937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7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Экран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79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Свой таймер: </a:t>
            </a:r>
            <a:r>
              <a:rPr sz="1900" b="1" i="0">
                <a:solidFill>
                  <a:srgbClr val="1D1D1D"/>
                </a:solidFill>
                <a:latin typeface="Arial"/>
              </a:rPr>
              <a:t>каждые 300 мс</a:t>
            </a:r>
            <a:r>
              <a:rPr sz="1900" b="0" i="0">
                <a:solidFill>
                  <a:srgbClr val="1D1D1D"/>
                </a:solidFill>
                <a:latin typeface="Arial"/>
              </a:rPr>
              <a:t> (чаще — мерцает)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6849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1544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44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Кнопка «тишина»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5449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Без таймера — проверяем </a:t>
            </a:r>
            <a:r>
              <a:rPr sz="1900" b="1" i="0">
                <a:solidFill>
                  <a:srgbClr val="1D1D1D"/>
                </a:solidFill>
                <a:latin typeface="Arial"/>
              </a:rPr>
              <a:t>каждый</a:t>
            </a:r>
            <a:r>
              <a:rPr sz="1900" b="0" i="0">
                <a:solidFill>
                  <a:srgbClr val="1D1D1D"/>
                </a:solidFill>
                <a:latin typeface="Arial"/>
              </a:rPr>
              <a:t> проход loop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Парктроник 2.0: таймеры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7680960" cy="46817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unsigned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long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lastMeasure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lastBeep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lastScreen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float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cm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999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bool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mute =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false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lastButton =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unsigned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long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now =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millis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(now - lastMeasure &gt;=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   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1. замер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lastMeasure = now;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cm =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measureDistance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button =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digitalRead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(buttonPin);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2. кнопка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(button ==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LOW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&amp;&amp; lastButton ==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HIGH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mute = !mute;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lastButton = button;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6A9955"/>
                </a:solidFill>
                <a:latin typeface="Courier New"/>
              </a:rPr>
              <a:t>// 3. писк и 4. экран — на следующем слайде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parktronik2.ino</a:t>
            </a:r>
          </a:p>
        </p:txBody>
      </p:sp>
      <p:sp>
        <p:nvSpPr>
          <p:cNvPr id="5" name="Oval 4"/>
          <p:cNvSpPr/>
          <p:nvPr/>
        </p:nvSpPr>
        <p:spPr>
          <a:xfrm>
            <a:off x="7360920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0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18120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463040"/>
            <a:ext cx="3154679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6851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627632"/>
            <a:ext cx="23317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048256"/>
            <a:ext cx="2331719" cy="941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Время берём один раз за проход.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3154679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668512" y="338328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364992"/>
            <a:ext cx="23317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mute = !mute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785616"/>
            <a:ext cx="2331719" cy="941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Кнопка переключает «тишину» — момент нажатия, как на занятии 11.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Парктроник 2.0: писк и экран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7680960" cy="484936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(mute || cm &gt;=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             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3. писк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noTone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(buzzerPin);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(cm &lt;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2000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unsigned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long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pause =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map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((</a:t>
            </a:r>
            <a:r>
              <a:rPr sz="1400" b="0" i="0">
                <a:solidFill>
                  <a:srgbClr val="569CD6"/>
                </a:solidFill>
                <a:latin typeface="Courier New"/>
              </a:rPr>
              <a:t>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)cm,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600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(now - lastBeep &gt;= pause)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  lastBeep = now;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  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tone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(buzzerPin,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1000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50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4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(now - lastScreen &gt;=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300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 {         </a:t>
            </a:r>
            <a:r>
              <a:rPr sz="1400" b="0" i="0">
                <a:solidFill>
                  <a:srgbClr val="6A9955"/>
                </a:solidFill>
                <a:latin typeface="Courier New"/>
              </a:rPr>
              <a:t>// 4. экран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lastScreen = now;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setCursor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(cm, </a:t>
            </a:r>
            <a:r>
              <a:rPr sz="14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  lcd.</a:t>
            </a:r>
            <a:r>
              <a:rPr sz="1400" b="0" i="0">
                <a:solidFill>
                  <a:srgbClr val="DCDCAA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(mute ?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cm MUTE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 : </a:t>
            </a:r>
            <a:r>
              <a:rPr sz="1400" b="0" i="0">
                <a:solidFill>
                  <a:srgbClr val="CE9178"/>
                </a:solidFill>
                <a:latin typeface="Courier New"/>
              </a:rPr>
              <a:t>" cm      "</a:t>
            </a:r>
            <a:r>
              <a:rPr sz="14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parktronik2.ino</a:t>
            </a:r>
          </a:p>
        </p:txBody>
      </p:sp>
      <p:sp>
        <p:nvSpPr>
          <p:cNvPr id="5" name="Oval 4"/>
          <p:cNvSpPr/>
          <p:nvPr/>
        </p:nvSpPr>
        <p:spPr>
          <a:xfrm>
            <a:off x="7360920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0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18120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463040"/>
            <a:ext cx="3154679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6851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1627632"/>
            <a:ext cx="23317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Таймер с переменной паузой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048256"/>
            <a:ext cx="2331719" cy="941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88038"/>
                </a:solidFill>
                <a:latin typeface="Courier New"/>
              </a:rPr>
              <a:t>pause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зависит от расстояния — и всё равно без delay!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200400"/>
            <a:ext cx="3154679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668512" y="338328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364992"/>
            <a:ext cx="23317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?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785616"/>
            <a:ext cx="2331719" cy="9418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Короткий if: «если mute — одно, иначе — другое».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Миссия: многозадачность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67512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7190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МИССИЯ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6172200" cy="3749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Переделайте «проблемную» программу: мигалка на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millis()</a:t>
            </a:r>
            <a:r>
              <a:rPr sz="1900" b="0" i="0">
                <a:solidFill>
                  <a:srgbClr val="FFFFFF"/>
                </a:solidFill>
                <a:latin typeface="Arial"/>
              </a:rPr>
              <a:t>, кнопка — мгновенно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Добавьте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второй</a:t>
            </a:r>
            <a:r>
              <a:rPr sz="1900" b="0" i="0">
                <a:solidFill>
                  <a:srgbClr val="FFFFFF"/>
                </a:solidFill>
                <a:latin typeface="Arial"/>
              </a:rPr>
              <a:t> светодиод, мигающий раз в 300 мс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Возьмите парктроник с прошлого урока и уберите все </a:t>
            </a:r>
            <a:r>
              <a:rPr sz="1900" b="1" i="0">
                <a:solidFill>
                  <a:srgbClr val="FFE082"/>
                </a:solidFill>
                <a:latin typeface="Courier New"/>
              </a:rPr>
              <a:t>delay</a:t>
            </a:r>
          </a:p>
          <a:p>
            <a:pPr algn="l" marL="329184" indent="-329184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AutoNum type="arabicPeriod"/>
            </a:pPr>
            <a:r>
              <a:rPr sz="1900" b="0" i="0">
                <a:solidFill>
                  <a:srgbClr val="FFFFFF"/>
                </a:solidFill>
                <a:latin typeface="Arial"/>
              </a:rPr>
              <a:t>Добавьте кнопку «тишина»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79" y="164592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Готово, если: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03120"/>
            <a:ext cx="3749039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В loop нет длинных delay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Кнопка реагирует мгновенно</a:t>
            </a:r>
          </a:p>
          <a:p>
            <a:pPr algn="l" marL="256032" indent="-256032">
              <a:lnSpc>
                <a:spcPct val="105000"/>
              </a:lnSpc>
              <a:spcAft>
                <a:spcPts val="500"/>
              </a:spcAft>
              <a:buClr>
                <a:srgbClr val="188038"/>
              </a:buClr>
              <a:buFont typeface="Arial"/>
              <a:buChar char="•"/>
            </a:pPr>
            <a:r>
              <a:rPr sz="1500" b="0" i="0">
                <a:solidFill>
                  <a:srgbClr val="1D1D1D"/>
                </a:solidFill>
                <a:latin typeface="Arial"/>
              </a:rPr>
              <a:t>Два светодиода мигают в разном ритме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389120"/>
            <a:ext cx="4160520" cy="187451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6679" y="452628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E30D3"/>
                </a:solidFill>
                <a:latin typeface="Arial"/>
              </a:rPr>
              <a:t>★ Усложнение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Парктроник 2.0 целиком: писк + экран + кнопка «тишина» + RGB-светофор по зонам — всё одновременно.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Дебаггинг: ищем ошибки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754505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Таймер срабатывает один раз и всё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06440" y="1645920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0" y="1554480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Забыли обновить: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lastTime = millis();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внутри 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04338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995803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5778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Через ~30 секунд всё ломается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40" y="2887218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0" y="2795778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Таймер объявлен как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int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— нужно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unsigned long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5635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4237100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037075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Всё равно тормозит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4128515"/>
            <a:ext cx="0" cy="710947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4037075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В loop остался длинный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delay</a:t>
            </a:r>
            <a:r>
              <a:rPr sz="1500" b="0" i="0">
                <a:solidFill>
                  <a:srgbClr val="1D1D1D"/>
                </a:solidFill>
                <a:latin typeface="Arial"/>
              </a:rPr>
              <a:t>. Найдите и замените таймером.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6933"/>
            <a:ext cx="11109960" cy="10767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5478398"/>
            <a:ext cx="493776" cy="493776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78373"/>
            <a:ext cx="420624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Светодиод горит, но не мигает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06440" y="5369814"/>
            <a:ext cx="0" cy="710945"/>
          </a:xfrm>
          <a:prstGeom prst="line">
            <a:avLst/>
          </a:prstGeom>
          <a:ln w="19050">
            <a:solidFill>
              <a:srgbClr val="BBC1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5278373"/>
            <a:ext cx="5440680" cy="89382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1D1D1D"/>
                </a:solidFill>
                <a:latin typeface="Arial"/>
              </a:rPr>
              <a:t>Нет </a:t>
            </a:r>
            <a:r>
              <a:rPr sz="1500" b="1" i="0">
                <a:solidFill>
                  <a:srgbClr val="188038"/>
                </a:solidFill>
                <a:latin typeface="Courier New"/>
              </a:rPr>
              <a:t>ledOn = !ledOn;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— состояние не переворачивается.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Итоги и рефлексия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Сегодня мы: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Увидели, почему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delay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блокирует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плату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Узнали часы платы: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millis()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800" b="1" i="0">
                <a:solidFill>
                  <a:srgbClr val="188038"/>
                </a:solidFill>
                <a:latin typeface="Courier New"/>
              </a:rPr>
              <a:t>unsigned long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Запомнили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формулу таймера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Научились делать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несколько дел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одновременно</a:t>
            </a:r>
          </a:p>
          <a:p>
            <a:pPr algn="l" marL="256032" indent="-256032">
              <a:lnSpc>
                <a:spcPct val="105000"/>
              </a:lnSpc>
              <a:spcAft>
                <a:spcPts val="12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Собрали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парктроник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086600" y="192024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E30D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Что вам понравилось в работе?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13182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086600" y="358902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3147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нового было самым важным?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8006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086600" y="5257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9834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0C0C0C"/>
                </a:solidFill>
                <a:latin typeface="Arial"/>
              </a:rPr>
              <a:t>Что вызвало наибольшие сложности?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Занятие 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Финальный хакатон: умный город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0" b="1" i="0">
                <a:solidFill>
                  <a:srgbClr val="1E30D3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Команды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3794760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Алгоритм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0576" y="3794760"/>
            <a:ext cx="104241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Сборка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60151" y="37947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Испытания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61688"/>
            <a:ext cx="104241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Защита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Что узнаем и что сделаем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0C0C0C"/>
                </a:solidFill>
                <a:latin typeface="Arial"/>
              </a:rPr>
              <a:t>Что узнаем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93776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объединить </a:t>
            </a:r>
            <a:r>
              <a:rPr sz="1800" b="1" i="0">
                <a:solidFill>
                  <a:srgbClr val="1D1D1D"/>
                </a:solidFill>
                <a:latin typeface="Arial"/>
              </a:rPr>
              <a:t>несколько модулей</a:t>
            </a:r>
            <a:r>
              <a:rPr sz="1800" b="0" i="0">
                <a:solidFill>
                  <a:srgbClr val="1D1D1D"/>
                </a:solidFill>
                <a:latin typeface="Arial"/>
              </a:rPr>
              <a:t> в одну систему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распределить роли в команде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1E30D3"/>
              </a:buClr>
              <a:buFont typeface="Arial"/>
              <a:buChar char="•"/>
            </a:pPr>
            <a:r>
              <a:rPr sz="1800" b="0" i="0">
                <a:solidFill>
                  <a:srgbClr val="1D1D1D"/>
                </a:solidFill>
                <a:latin typeface="Arial"/>
              </a:rPr>
              <a:t>Как защищать свой проект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394960" cy="480060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1E30D3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7830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В результате урока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920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Соберёте и защитите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проект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«умного города»</a:t>
            </a:r>
          </a:p>
          <a:p>
            <a:pPr algn="l" marL="256032" indent="-256032">
              <a:lnSpc>
                <a:spcPct val="105000"/>
              </a:lnSpc>
              <a:spcAft>
                <a:spcPts val="1000"/>
              </a:spcAft>
              <a:buClr>
                <a:srgbClr val="FFFFFF"/>
              </a:buClr>
              <a:buFont typeface="Arial"/>
              <a:buChar char="•"/>
            </a:pPr>
            <a:r>
              <a:rPr sz="1800" b="0" i="0">
                <a:solidFill>
                  <a:srgbClr val="FFFFFF"/>
                </a:solidFill>
                <a:latin typeface="Arial"/>
              </a:rPr>
              <a:t>Заполните </a:t>
            </a:r>
            <a:r>
              <a:rPr sz="1800" b="1" i="0">
                <a:solidFill>
                  <a:srgbClr val="FFFFFF"/>
                </a:solidFill>
                <a:latin typeface="Arial"/>
              </a:rPr>
              <a:t>финальную анкету</a:t>
            </a:r>
            <a:r>
              <a:rPr sz="1800" b="0" i="0">
                <a:solidFill>
                  <a:srgbClr val="FFFFFF"/>
                </a:solidFill>
                <a:latin typeface="Arial"/>
              </a:rPr>
              <a:t> и увидите свой прогресс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Разведка: наш арсенал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Кнопка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INPUT_PULLUP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4710" y="146304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23310" y="1664208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Баззер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3310" y="212140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tone()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79" y="146304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9379" y="1664208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9379" y="212140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setColor()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D3, D5, D6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86849" y="146304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5449" y="1664208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Экран LCD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5449" y="212140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D1D1D"/>
                </a:solidFill>
                <a:latin typeface="Arial"/>
              </a:rPr>
              <a:t>I2C · A4, A5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133087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DHT22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 i="0">
                <a:solidFill>
                  <a:srgbClr val="1D1D1D"/>
                </a:solidFill>
                <a:latin typeface="Arial"/>
              </a:rPr>
              <a:t>температура · D4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4710" y="393192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23310" y="4133087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Сервопривод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3310" y="459028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moveGate()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79" y="393192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69379" y="4133087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HC-SR04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9379" y="459028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measureDistance()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D7, D12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86849" y="3931920"/>
            <a:ext cx="257175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15449" y="4133087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Клавиатура 4×4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449" y="4590288"/>
            <a:ext cx="2114550" cy="13990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Keypad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· D4–D7, D10–D13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Проект 1: Умная теплица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170432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5A6270"/>
                </a:solidFill>
                <a:latin typeface="Arial"/>
              </a:rPr>
              <a:t>Теплица сама следит за климатом и проветривается.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Модули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DHT22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Серво-форточка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LCD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RGB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Баззер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7178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Логика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667512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Жарче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28 °C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форточка открывается (серва 90°)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Холоднее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25 °C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закрывается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RGB: синий / зелёный / красный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Жарче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35 °C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тревога баззером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На экране: T, H и «Window: OPEN / CLOSED»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5257800"/>
            <a:ext cx="7178040" cy="1005840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4880" y="5257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Пины: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DHT D4 · Серво D9 · RGB D3/D5/D6 · Баззер D8 · LCD A4/A5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Проект 2: Умный гараж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170432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5A6270"/>
                </a:solidFill>
                <a:latin typeface="Arial"/>
              </a:rPr>
              <a:t>Шлагбаум сам видит машину, а парктроник помогает встать.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Модули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HC-SR04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Серво-шлагбаум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LCD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RGB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Баззер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83080"/>
            <a:ext cx="7178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19659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Логика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667512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Машина ближе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30 см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«Welcome!» и шлагбаум вверх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Уехала дальше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50 см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→ шлагбаум вниз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RGB: зелёный — открыто, красный — закрыто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Ближе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10 см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при открытом — писк «стоп»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На экране — расстояние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5257800"/>
            <a:ext cx="7178040" cy="1005840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54880" y="5257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Пины: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TRIG D7 · ECHO D12 · Серво D9 · RGB D3/D5/D6 · Баззер D8 · LCD A4/A5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Проект 3: Сейф 2.0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548640" y="1170432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5A6270"/>
                </a:solidFill>
                <a:latin typeface="Arial"/>
              </a:rPr>
              <a:t>Сейф с кодом на клавиатуре и сиреной от взломщиков.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1E30D3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Модули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Клавиатура 4×4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Серво-замок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LCD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500" b="1" i="0">
                <a:solidFill>
                  <a:srgbClr val="1E30D3"/>
                </a:solidFill>
                <a:latin typeface="Arial"/>
              </a:rPr>
              <a:t>Баззер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7178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Логика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6675120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Цифры кода на экране —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звёздочками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1" i="0">
                <a:solidFill>
                  <a:srgbClr val="188038"/>
                </a:solidFill>
                <a:latin typeface="Courier New"/>
              </a:rPr>
              <a:t>#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— проверить,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*</a:t>
            </a:r>
            <a:r>
              <a:rPr sz="1600" b="0" i="0">
                <a:solidFill>
                  <a:srgbClr val="1D1D1D"/>
                </a:solidFill>
                <a:latin typeface="Arial"/>
              </a:rPr>
              <a:t> — стереть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Код верный → замок 90° на 3 секунды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3 ошибки подряд → </a:t>
            </a:r>
            <a:r>
              <a:rPr sz="1600" b="1" i="0">
                <a:solidFill>
                  <a:srgbClr val="1D1D1D"/>
                </a:solidFill>
                <a:latin typeface="Arial"/>
              </a:rPr>
              <a:t>сирена</a:t>
            </a:r>
          </a:p>
          <a:p>
            <a:pPr algn="l" marL="256032" indent="-256032">
              <a:lnSpc>
                <a:spcPct val="105000"/>
              </a:lnSpc>
              <a:spcAft>
                <a:spcPts val="700"/>
              </a:spcAft>
              <a:buClr>
                <a:srgbClr val="1E30D3"/>
              </a:buClr>
              <a:buFont typeface="Arial"/>
              <a:buChar char="•"/>
            </a:pPr>
            <a:r>
              <a:rPr sz="1600" b="0" i="0">
                <a:solidFill>
                  <a:srgbClr val="1D1D1D"/>
                </a:solidFill>
                <a:latin typeface="Arial"/>
              </a:rPr>
              <a:t>Код хранится в переменной </a:t>
            </a:r>
            <a:r>
              <a:rPr sz="1600" b="1" i="0">
                <a:solidFill>
                  <a:srgbClr val="188038"/>
                </a:solidFill>
                <a:latin typeface="Courier New"/>
              </a:rPr>
              <a:t>secret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5257800"/>
            <a:ext cx="7178040" cy="1005840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52578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Пины: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Ряды D13/D12/D11/D10 · Колонки D7/D6/D5/D4 · Серво D9 · Баззер D8 · LCD A4/A5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Подсказка 1: «окно» против дёрганья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120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617720" cy="434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Если открывать при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&gt; 28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а закрывать при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&lt; 28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на 28,0° форточка будет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дёргаться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Решение: два порога с «окном» между ними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Открыть — при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&gt; 28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закрыть — только при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&lt; 25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Между 25 и 28 —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ничего не делаем</a:t>
            </a:r>
            <a:r>
              <a:rPr sz="1700" b="0" i="0">
                <a:solidFill>
                  <a:srgbClr val="1D1D1D"/>
                </a:solidFill>
                <a:latin typeface="Arial"/>
              </a:rPr>
              <a:t>, ждём</a:t>
            </a:r>
          </a:p>
          <a:p>
            <a:pPr algn="l" marL="256032" indent="-256032">
              <a:lnSpc>
                <a:spcPct val="105000"/>
              </a:lnSpc>
              <a:spcAft>
                <a:spcPts val="900"/>
              </a:spcAft>
              <a:buClr>
                <a:srgbClr val="1E30D3"/>
              </a:buClr>
              <a:buFont typeface="Arial"/>
              <a:buChar char="•"/>
            </a:pPr>
            <a:r>
              <a:rPr sz="1700" b="0" i="0">
                <a:solidFill>
                  <a:srgbClr val="1D1D1D"/>
                </a:solidFill>
                <a:latin typeface="Arial"/>
              </a:rPr>
              <a:t>Так же работают кондиционеры и холодильники</a:t>
            </a:r>
          </a:p>
        </p:txBody>
      </p:sp>
      <p:sp>
        <p:nvSpPr>
          <p:cNvPr id="5" name="Код"/>
          <p:cNvSpPr/>
          <p:nvPr/>
        </p:nvSpPr>
        <p:spPr>
          <a:xfrm>
            <a:off x="5943599" y="1645920"/>
            <a:ext cx="5715000" cy="329184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182880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(t &gt;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28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&amp;&amp; windowOpen ==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moveWindow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windowOpen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else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(t &lt;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25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&amp;&amp; windowOpen ==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moveWindow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windowOpen =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Подсказка 2: клавиатура 4×4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468172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C586C0"/>
                </a:solidFill>
                <a:latin typeface="Courier New"/>
              </a:rPr>
              <a:t>#include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&lt;Keypad.h&gt;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char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keys[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][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] =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'1'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'2'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'3'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'A'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'4'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'5'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'6'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'B'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{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'7'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'8'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'9'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'C'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}, {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'*'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'0'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'#'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</a:t>
            </a:r>
            <a:r>
              <a:rPr sz="1500" b="0" i="0">
                <a:solidFill>
                  <a:srgbClr val="CE9178"/>
                </a:solidFill>
                <a:latin typeface="Courier New"/>
              </a:rPr>
              <a:t>'D'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byte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rowPins[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] = {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13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12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11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10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byte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colPins[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] = {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7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6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5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Keypad keypad =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Keypad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makeKeymap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(keys),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                   rowPins, colPins,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, </a:t>
            </a:r>
            <a:r>
              <a:rPr sz="1500" b="0" i="0">
                <a:solidFill>
                  <a:srgbClr val="B5CEA8"/>
                </a:solidFill>
                <a:latin typeface="Courier New"/>
              </a:rPr>
              <a:t>4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69CD6"/>
                </a:solidFill>
                <a:latin typeface="Courier New"/>
              </a:rPr>
              <a:t>void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loop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569CD6"/>
                </a:solidFill>
                <a:latin typeface="Courier New"/>
              </a:rPr>
              <a:t>char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key = keypad.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getKey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5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 (key != </a:t>
            </a:r>
            <a:r>
              <a:rPr sz="1500" b="0" i="0">
                <a:solidFill>
                  <a:srgbClr val="4FC1FF"/>
                </a:solidFill>
                <a:latin typeface="Courier New"/>
              </a:rPr>
              <a:t>NO_KEY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  Serial.</a:t>
            </a:r>
            <a:r>
              <a:rPr sz="1500" b="0" i="0">
                <a:solidFill>
                  <a:srgbClr val="DCDCAA"/>
                </a:solidFill>
                <a:latin typeface="Courier New"/>
              </a:rPr>
              <a:t>println</a:t>
            </a:r>
            <a:r>
              <a:rPr sz="1500" b="0" i="0">
                <a:solidFill>
                  <a:srgbClr val="D4D4D4"/>
                </a:solidFill>
                <a:latin typeface="Courier New"/>
              </a:rPr>
              <a:t>(key);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keypad_test.ino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Библиотека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Libraries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→ Keypad →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Include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char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Тип для </a:t>
            </a:r>
            <a:r>
              <a:rPr sz="1400" b="1" i="0">
                <a:solidFill>
                  <a:srgbClr val="1D1D1D"/>
                </a:solidFill>
                <a:latin typeface="Arial"/>
              </a:rPr>
              <a:t>одного символа</a:t>
            </a:r>
            <a:r>
              <a:rPr sz="1400" b="0" i="0">
                <a:solidFill>
                  <a:srgbClr val="1D1D1D"/>
                </a:solidFill>
                <a:latin typeface="Arial"/>
              </a:rPr>
              <a:t>: '1', '#', 'A'.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Таблица кнопок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Двумерный массив, как цифры в занятии 10.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getKey()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Возвращает нажатую кнопку или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NO_KEY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Подсказка 3: switch / case</a:t>
            </a:r>
          </a:p>
        </p:txBody>
      </p:sp>
      <p:sp>
        <p:nvSpPr>
          <p:cNvPr id="3" name="Код"/>
          <p:cNvSpPr/>
          <p:nvPr/>
        </p:nvSpPr>
        <p:spPr>
          <a:xfrm>
            <a:off x="548640" y="1463040"/>
            <a:ext cx="6949440" cy="3965448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201168" tIns="384048" bIns="13716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C586C0"/>
                </a:solidFill>
                <a:latin typeface="Courier New"/>
              </a:rPr>
              <a:t>switch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(key)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case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'*'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:      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стереть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entered =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""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break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case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'#'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:      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проверить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if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 (entered == secret)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  lock.</a:t>
            </a:r>
            <a:r>
              <a:rPr sz="1600" b="0" i="0">
                <a:solidFill>
                  <a:srgbClr val="DCDCAA"/>
                </a:solidFill>
                <a:latin typeface="Courier New"/>
              </a:rPr>
              <a:t>write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(</a:t>
            </a:r>
            <a:r>
              <a:rPr sz="1600" b="0" i="0">
                <a:solidFill>
                  <a:srgbClr val="B5CEA8"/>
                </a:solidFill>
                <a:latin typeface="Courier New"/>
              </a:rPr>
              <a:t>90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);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открыть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entered = </a:t>
            </a:r>
            <a:r>
              <a:rPr sz="1600" b="0" i="0">
                <a:solidFill>
                  <a:srgbClr val="CE9178"/>
                </a:solidFill>
                <a:latin typeface="Courier New"/>
              </a:rPr>
              <a:t>""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break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</a:t>
            </a:r>
            <a:r>
              <a:rPr sz="1600" b="0" i="0">
                <a:solidFill>
                  <a:srgbClr val="C586C0"/>
                </a:solidFill>
                <a:latin typeface="Courier New"/>
              </a:rPr>
              <a:t>default</a:t>
            </a:r>
            <a:r>
              <a:rPr sz="1600" b="0" i="0">
                <a:solidFill>
                  <a:srgbClr val="D4D4D4"/>
                </a:solidFill>
                <a:latin typeface="Courier New"/>
              </a:rPr>
              <a:t>:             </a:t>
            </a:r>
            <a:r>
              <a:rPr sz="1600" b="0" i="0">
                <a:solidFill>
                  <a:srgbClr val="6A9955"/>
                </a:solidFill>
                <a:latin typeface="Courier New"/>
              </a:rPr>
              <a:t>// цифра — добавить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    entered += key;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36192"/>
            <a:ext cx="65836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8A93A6"/>
                </a:solidFill>
                <a:latin typeface="Courier New"/>
              </a:rPr>
              <a:t>seif.ino</a:t>
            </a:r>
          </a:p>
        </p:txBody>
      </p:sp>
      <p:sp>
        <p:nvSpPr>
          <p:cNvPr id="5" name="Oval 4"/>
          <p:cNvSpPr/>
          <p:nvPr/>
        </p:nvSpPr>
        <p:spPr>
          <a:xfrm>
            <a:off x="6629399" y="1591056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7999" y="1591056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86599" y="1591056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4630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936992" y="16459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276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482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«Посмотри, что в key». Удобнее длинной лестницы 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203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936992" y="29032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88493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05556"/>
            <a:ext cx="3063240" cy="4617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Вариант.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break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— «выходим, дальше не смотрим».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936992" y="41605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422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45628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Всё остальное — как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else</a:t>
            </a:r>
            <a:r>
              <a:rPr sz="14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34940"/>
            <a:ext cx="3886200" cy="11201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936992" y="5417820"/>
            <a:ext cx="384048" cy="384048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99531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0C0C0C"/>
                </a:solidFill>
                <a:latin typeface="Arial"/>
              </a:rP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820155"/>
            <a:ext cx="3063240" cy="4617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D1D1D"/>
                </a:solidFill>
                <a:latin typeface="Arial"/>
              </a:rPr>
              <a:t>Строка текста: </a:t>
            </a:r>
            <a:r>
              <a:rPr sz="1400" b="1" i="0">
                <a:solidFill>
                  <a:srgbClr val="188038"/>
                </a:solidFill>
                <a:latin typeface="Courier New"/>
              </a:rPr>
              <a:t>entered += key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добавляет символ в конец.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План хакатона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Команды и выбор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10 мин.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Команды по 2–3 человека, выбираем проект и распределяем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054096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Алгоритм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15 мин.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На листе: какие модули, какие пины, что делает устройство — по шагам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330952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Сборка и 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40 мин.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Собираем по модулю и проверяем каждый в мониторе порта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8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07808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Испытания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15 мин.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Проверяем все режимы, приводим провода в порядок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994660"/>
            <a:ext cx="31089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E30D3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56064" y="1600200"/>
            <a:ext cx="2002536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884664" y="1828800"/>
            <a:ext cx="548640" cy="54864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514600"/>
            <a:ext cx="159105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0C0C0C"/>
                </a:solidFill>
                <a:latin typeface="Arial"/>
              </a:rPr>
              <a:t>Защита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4664" y="3200400"/>
            <a:ext cx="1636776" cy="16459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D1D1D"/>
                </a:solidFill>
                <a:latin typeface="Arial"/>
              </a:rPr>
              <a:t>10 мин.</a:t>
            </a:r>
            <a:r>
              <a:rPr sz="1400" b="0" i="0">
                <a:solidFill>
                  <a:srgbClr val="1D1D1D"/>
                </a:solidFill>
                <a:latin typeface="Arial"/>
              </a:rPr>
              <a:t> 2 минуты на команду + финальная анкета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11109960" cy="1097279"/>
          </a:xfrm>
          <a:prstGeom prst="roundRect">
            <a:avLst>
              <a:gd name="adj" fmla="val 8000"/>
            </a:avLst>
          </a:prstGeom>
          <a:solidFill>
            <a:srgbClr val="E7F0F7"/>
          </a:solidFill>
          <a:ln w="15875">
            <a:solidFill>
              <a:srgbClr val="BBC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166360"/>
            <a:ext cx="10607040" cy="10972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D1D1D"/>
                </a:solidFill>
                <a:latin typeface="Arial"/>
              </a:rPr>
              <a:t>Стратегия «по кусочкам»:</a:t>
            </a:r>
            <a:r>
              <a:rPr sz="1500" b="0" i="0">
                <a:solidFill>
                  <a:srgbClr val="1D1D1D"/>
                </a:solidFill>
                <a:latin typeface="Arial"/>
              </a:rPr>
              <a:t> датчик → монитор порта → экран → исполнитель (серва, баззер) → логика. Каждый шаг проверяем, прежде чем идти дальше.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Роли в команде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Инженер схемы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Собирает схему в Cirkit по карте пинов. Следит за цветами проводов. Проверяет каждое подключение.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Программист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Пишет код по алгоритму. Начинает с функций для каждого модуля. Проверяет в мониторе порта.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Тестировщик и спикер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Придумывает испытания, ищет ошибки, готовит рассказ для защиты.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Защита проекта: 2 минуты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Покажите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Устройство в работе — во </a:t>
            </a:r>
            <a:r>
              <a:rPr sz="1900" b="1" i="0">
                <a:solidFill>
                  <a:srgbClr val="1D1D1D"/>
                </a:solidFill>
                <a:latin typeface="Arial"/>
              </a:rPr>
              <a:t>всех режимах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4710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62331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3310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Объясните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10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1" i="0">
                <a:solidFill>
                  <a:srgbClr val="1D1D1D"/>
                </a:solidFill>
                <a:latin typeface="Arial"/>
              </a:rPr>
              <a:t>Самую сложную часть</a:t>
            </a:r>
            <a:r>
              <a:rPr sz="1900" b="0" i="0">
                <a:solidFill>
                  <a:srgbClr val="1D1D1D"/>
                </a:solidFill>
                <a:latin typeface="Arial"/>
              </a:rPr>
              <a:t> кода: как она работает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79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46937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7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Расскажите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79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Где это пригодится </a:t>
            </a:r>
            <a:r>
              <a:rPr sz="1900" b="1" i="0">
                <a:solidFill>
                  <a:srgbClr val="1D1D1D"/>
                </a:solidFill>
                <a:latin typeface="Arial"/>
              </a:rPr>
              <a:t>в жизни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6849" y="1463040"/>
            <a:ext cx="257175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315449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449" y="2286000"/>
            <a:ext cx="21145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Бонус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5449" y="2743200"/>
            <a:ext cx="211455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900" b="0" i="0">
                <a:solidFill>
                  <a:srgbClr val="1D1D1D"/>
                </a:solidFill>
                <a:latin typeface="Arial"/>
              </a:rPr>
              <a:t>Своя «фишка», которой не было в задании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548640" y="384048"/>
            <a:ext cx="90525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0C0C0C"/>
                </a:solidFill>
                <a:latin typeface="Arial"/>
              </a:rPr>
              <a:t>Финальная анкета и что дальше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Анкета знаний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Заполняем ту же анкету, что на занятии 1. Сравниваем: что вы умели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до</a:t>
            </a:r>
            <a:r>
              <a:rPr sz="1700" b="0" i="0">
                <a:solidFill>
                  <a:srgbClr val="1D1D1D"/>
                </a:solidFill>
                <a:latin typeface="Arial"/>
              </a:rPr>
              <a:t> и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после</a:t>
            </a:r>
            <a:r>
              <a:rPr sz="1700" b="0" i="0">
                <a:solidFill>
                  <a:srgbClr val="1D1D1D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7200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Настоящая плата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Любой проект модуля 2 можно собрать на реальном Arduino — код </a:t>
            </a:r>
            <a:r>
              <a:rPr sz="1700" b="1" i="0">
                <a:solidFill>
                  <a:srgbClr val="1D1D1D"/>
                </a:solidFill>
                <a:latin typeface="Arial"/>
              </a:rPr>
              <a:t>не меняется</a:t>
            </a:r>
            <a:r>
              <a:rPr sz="1700" b="0" i="0">
                <a:solidFill>
                  <a:srgbClr val="1D1D1D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66760" y="1691640"/>
            <a:ext cx="457200" cy="457200"/>
          </a:xfrm>
          <a:prstGeom prst="ellipse">
            <a:avLst/>
          </a:prstGeom>
          <a:solidFill>
            <a:srgbClr val="1E3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0C0C0C"/>
                </a:solidFill>
                <a:latin typeface="Arial"/>
              </a:rPr>
              <a:t>Что изучать дальше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063240" cy="1874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1D1D1D"/>
                </a:solidFill>
                <a:latin typeface="Arial"/>
              </a:rPr>
              <a:t>ESP32 и Wi-Fi, умный дом через интернет, роботы на моторах, 3D-печать корпусов.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модуль 2!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74904" y="3611880"/>
            <a:ext cx="5852160" cy="1783080"/>
          </a:xfrm>
        </p:spPr>
        <p:txBody>
          <a:bodyPr/>
          <a:lstStyle/>
          <a:p>
            <a:pPr marL="0" indent="0"/>
            <a:r>
              <a:t>Вы — инженеры виртуальной лаборатории</a:t>
            </a:r>
          </a:p>
        </p:txBody>
      </p:sp>
      <p:sp>
        <p:nvSpPr>
          <p:cNvPr id="5" name="Номер"/>
          <p:cNvSpPr txBox="1"/>
          <p:nvPr/>
        </p:nvSpPr>
        <p:spPr>
          <a:xfrm>
            <a:off x="6400800" y="86868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0" b="1" i="0">
                <a:solidFill>
                  <a:srgbClr val="1E30D3"/>
                </a:solidFill>
                <a:latin typeface="Arial"/>
              </a:rPr>
              <a:t>16/16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Функции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81544" y="3794760"/>
            <a:ext cx="8229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LCD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41664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DHT22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11512" y="37947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Servo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361688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HC-SR04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1544" y="4361688"/>
            <a:ext cx="126187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millis()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0576" y="4361688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114300" dist="28575" dir="5400000" algn="t" rotWithShape="0">
              <a:srgbClr val="1E30D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300" b="1" i="0">
                <a:solidFill>
                  <a:srgbClr val="1E30D3"/>
                </a:solidFill>
                <a:latin typeface="Arial"/>
              </a:rPr>
              <a:t>Хакатон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Высшая ИТ школа">
  <a:themeElements>
    <a:clrScheme name="Office">
      <a:dk1>
        <a:srgbClr val="1D1D1D"/>
      </a:dk1>
      <a:lt1>
        <a:srgbClr val="FFFFFF"/>
      </a:lt1>
      <a:dk2>
        <a:srgbClr val="666666"/>
      </a:dk2>
      <a:lt2>
        <a:srgbClr val="E7F0F7"/>
      </a:lt2>
      <a:accent1>
        <a:srgbClr val="1E30D3"/>
      </a:accent1>
      <a:accent2>
        <a:srgbClr val="BBC1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Высшая ИТ школа">
  <a:themeElements>
    <a:clrScheme name="Office">
      <a:dk1>
        <a:srgbClr val="1D1D1D"/>
      </a:dk1>
      <a:lt1>
        <a:srgbClr val="FFFFFF"/>
      </a:lt1>
      <a:dk2>
        <a:srgbClr val="666666"/>
      </a:dk2>
      <a:lt2>
        <a:srgbClr val="E7F0F7"/>
      </a:lt2>
      <a:accent1>
        <a:srgbClr val="1E30D3"/>
      </a:accent1>
      <a:accent2>
        <a:srgbClr val="BBC1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2025-10-09T14:22:59Z</dcterms:created>
  <dc:creator>teacher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906BAEC5E7AD4D608CFF90CA4A47BA09_13</vt:lpwstr>
  </property>
  <property fmtid="{D5CDD505-2E9C-101B-9397-08002B2CF9AE}" pid="3" name="KSOProductBuildVer">
    <vt:lpwstr>1049-12.2.0.22549</vt:lpwstr>
  </property>
</Properties>
</file>